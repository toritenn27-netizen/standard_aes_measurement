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資料は初学者が実際のアセンブリを読むための説明です。AESの安全性や暗号理論をすべて説明する資料ではありません。今回のコードは初期鍵とのXORと第1ラウンドの測定用です。元の測定機能を維持しながら、プログラムの処理を細かいCPU命令に移しました。目安は本編15〜20分、補足は必要なときに参照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平文は暗号処理に入れる元の16バイトのデータです。stateはその計算途中の状態を保持します。初期鍵とのXORの後にSubBytes、ShiftRows、MixColumns、第1ラウンド鍵とのXORを行います。D5のHIGHとLOWの間が測定対象です。総数は5000平文で、1回のSコマンドで500平文、各10回、計5000パルスを出します。対象を誤ってAES全体の暗号文と呼ばないようにします。</a:t>
            </a:r>
          </a:p>
          <a:p/>
          <a:p>
            <a:r>
              <a:t>出典・確認箇所：reference/Standard_AES_Measurement.ino:118–129, 172–267; measurement.S:148–175, 285–292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機械語はCPUが実際に実行する数値の命令です。元のArduinoのC++も既に機械語へコンパイルされて動いています。アセンブリ化は初めてCPUで動くようにすることではなく、処理を記述する抽象度を変えることです。GNU AVRアセンブリを使い、.Sファイルは前処理後にアセンブルされます。命令列を明示できることが目的で、速度向上を今回証明したわけではありません。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ビットは0か1の1桁、8ビットで1バイトです。ATmega328Pの汎用レジスタはr0からr31の32個で、それぞれ8ビットです。ここでは作業用のr18などに注目します。Xはr27:r26、Zはr31:r30の組で16ビットのアドレスを持ちます。XやZはデータそのものではなく住所を保持します。今回のS-Boxはフラッシュ、stateと鍵はSRAMにあります。</a:t>
            </a:r>
          </a:p>
          <a:p/>
          <a:p>
            <a:r>
              <a:t>出典・確認箇所：measurement.S:16–28, 302–307, 417–439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eorはexclusive ORの略で、AVRのXOR命令です。命令、空白、オペランド、コメントの順に読みます。r18とr19は変数名ではなくCPUの作業用レジスタ名です。左側が保存先という説明はeorやmovなどについての一般則で、st X+,r18のようなメモリ保存命令は個別に意味を確認します。セミコロン以降はアセンブラでは命令として実行されません。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の0xは16進数を表す接頭辞です。3Cは00111100、A5は10100101なので、XORは10011001すなわち99になります。暗号の鍵とのXORはこの計算です。このスライドは命令の意味を理解するための単純な例で、実際の最初のデータ7Aと鍵2Bの例は次のスライドの後に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アセンブリ化の最も分かりやすい例です。C++の1行にはメモリ読み込み、計算、メモリへの書き戻しが含まれます。それを明示しました。この抜粋の前でXとZのアドレスを設定し、外側のループで16バイト分処理します。Z+は鍵の読み込み後、X+はstateへの保存後にそれぞれアドレスを1進めます。この4行だけでAES全体が完了するわけではありません。</a:t>
            </a:r>
          </a:p>
          <a:p/>
          <a:p>
            <a:r>
              <a:t>出典・確認箇所：reference/Standard_AES_Measurement.ino:109–113; measurement.S:297–315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ポインタは住所、レジスタの中身は読んできたデータ、と区別します。ld r18,XではXはまだ進みません。st X+,r18によって同じstate[0]を書き換えてから次へ進みます。鍵はld r19,Z+で読んだ時点で次の鍵へ進みます。7A XOR 2Bは51です。これはAESの途中結果であり、ログの最終値State_R1と混同しないようにします。</a:t>
            </a:r>
          </a:p>
          <a:p/>
          <a:p>
            <a:r>
              <a:t>出典・確認箇所：referenceの初回PTと鍵; measurement.S:309–312; build/asm-test/serial.log の Trace:0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のforは初期化、処理、カウンタ更新、条件判断をまとめて記述できます。ここでは残り回数方式です。ldiは数値を直接入れる命令、decは1減らす命令です。decで結果が0になるとゼロフラグが立ちます。brneはゼロフラグが立っていなければ分岐するため、この並びでは残り回数が0でないときに繰り返します。1bのbはbackwardで、数値1の直前のローカルラベルを探します。</a:t>
            </a:r>
          </a:p>
          <a:p/>
          <a:p>
            <a:r>
              <a:t>出典・確認箇所：measurement.S:308–315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普通のSRAMを読むldと、フラッシュを読むlpmの使い分けに注目します。r30がZの下位8ビット、r31が上位8ビットです。lo8とhi8はアドレスをその2つに分けます。入力値を下位側へaddし、繰り上がりがあればadcで上位側に反映します。r1はAVR GCCの規約に従い0に保っています。表の中身は元の標準AES S-Boxと同じです。上級者向けのアドレス計算の詳細は発表時にすべて説明しなくても構いません。</a:t>
            </a:r>
          </a:p>
          <a:p/>
          <a:p>
            <a:r>
              <a:t>出典・確認箇所：measurement.S:319–332, 423–439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C、Dはその場所に入っていたバイト値の説明用記号です。実際の添字の並びは1、5、9、13で、連続したSRAMの4バイトではありません。最初の値をr18へ保存してから次の値を前へ詰め、最後に退避した値をstate[13]へ置きます。他の行も元コードと同じ0、1、2、3個の回転です。ldsとstsは名前付きのSRAMアドレスを直接指定する読み書き命令です。</a:t>
            </a:r>
          </a:p>
          <a:p/>
          <a:p>
            <a:r>
              <a:t>出典・確認箇所：reference/Standard_AES_Measurement.ino:65–89; measurement.S:335–362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左シフトはビットを左にずらすことです。AESが使う有限体での2倍は通常の整数の2倍と異なり、元の最上位ビットが1だったときに1BとのXORで補正します。macro XTIMEのvalue=r23、scratch=r24とした実際の展開です。sbrcは指定ビットが0なら直後の1命令を飛ばします。MixColumnsではt=a0 XOR a1 XOR a2 XOR a3を一度求め、out[i]=a[i] XOR t XOR xtime(a[i] XOR a[next])という同値な式を使いました。これは式の整理も含む移植であり、逐語的な1対1変換だけではありません。</a:t>
            </a:r>
          </a:p>
          <a:p/>
          <a:p>
            <a:r>
              <a:t>出典・確認箇所：reference/Standard_AES_Measurement.ino:91–107; measurement.S:364–413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状態値はr18〜r21へロードします。シフトに使う複製はr22〜r25です。スライドの下の4命令はx&lt;&lt;13のループからの抜粋で、13回繰り返す本体です。lslで押し出されたビットはキャリーフラグに入り、次のrolがそれを最下位ビットへ取り込みます。右シフト側はlsrとrorで上位から下位へ行います。32ビットの状態全体を更新し、呼び出し側が使用する下位8ビットをr24で返します。戻り値全体を32ビットで返す関数へ変更したわけではありませんが、元のスケッチが使用する平文生成結果は同じです。</a:t>
            </a:r>
          </a:p>
          <a:p/>
          <a:p>
            <a:r>
              <a:t>出典・確認箇所：reference/Standard_AES_Measurement.ino:xorshift32(); measurement.S:230–281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受信文字はfw_serial_readの戻り値としてr24に入っています。cpiでSと比較し、等しいとゼロフラグが立ち、breqで次の2:へ進みます。等しくなければretでmeasurement_loopから戻ります。小文字sや改行は開始コマンドになりません。2fはforward、1bのbはbackwardです。バッチ間ではxorshift_stateとcurrent_trace_indexを保持し、5000平文が終わった後の次のSで両方を初期化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機器操作の標準実装は維持しました。Serialの送受信バッファ、digitalWriteのピン処理、delayのタイマー処理を独自に書き直していません。callは関数を呼び出す命令で、retで戻ります。extern "C"はC++側の関数名をアセンブリから呼べるようにするための指定です。Arduinoの初期化、割り込み、起動処理も残っています。今回の成果物は接続用C++を伴うAVRアセンブリ版であり、すべてのランタイムを手書きした単独の.Sではありません。</a:t>
            </a:r>
          </a:p>
          <a:p/>
          <a:p>
            <a:r>
              <a:t>出典・確認箇所：Standard_AES_Measurement_ASM.ino:1–26; measurement.S:166–169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どちらもstateを平文からコピーし、トリガーを上げ、1ラウンドを実行し、トリガーを下げて10ms待ちます。それを同じ平文で10回繰り返し、ログの後にも10ms待ちます。図の幅の違いは模式的なもので、どちらが速いかを測定した結果ではありません。アセンブリ化するとコンパイラ任せのコードとは命令列が変わり、呼び出しのオーバーヘッドもあるため、時間と波形は同一にはなりません。割り込みは原本と同様に有効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比較用ビルドは長い待機だけを省略して、delay(10)の呼び出し回数と引数を記録しました。digitalWriteは実際のArduino実装を呼び、D5のパルス時点でSRAMの状態を採取しています。5000+500=5500平文、各10回で55000パルス、各平文10回の待機とログ後1回の待機で5500×11=60500回です。0に設定したテストや未実施の試験を成功に数えたものではありません。待機を置換しない実機用バイナリも同じシミュレータで最初の1平文を実行し、10パルスと実際のタイマー待機を確認しました。最短低レベル間隔160300サイクル÷16MHz=10.01875msです。実機上の実測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告では単にアセンブリ化したと言うより、対象範囲、具体的な変更、理由、検証範囲の4点を述べると伝わります。演算結果と測定の進め方は維持、タイミングや消費電力波形は別途測定が必要という点も付け加えます。読み始めは全体の呼び出し順が短く書かれたexecute_aes_std_asm、次に具体例としてadd_round_key_asm、その後に各AES演算、最後にバッチを管理するmeasurement_loopの順がお勧め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は完全な命令リファレンスではありません。分岐は直前の命令が設定したフラグを見ます。brneは常にレジスタが0でないかを直接比較する命令ではなく、ゼロフラグが0のときに分岐します。movwは隣接した2レジスタのペアをコピーします。rolはキャリーを経由した左回転で、複数バイトをつなぐシフトに使っています。命令の細かい定義はMicrochipのAVR Instruction Set Manualで確認できます。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GNU AVRアセンブラのディレクティブはソースを組み立てる指定です。.equで定数を定義し、.byteでデータを置き、.sectionでコードやデータの区分を指定します。push/popはスタックを使う実行命令です。今回の平文生成ループでは、Xポインタとカウンタをpushで保存してxorshiftを呼び、popで逆順に戻しています。r1のゼロ維持や、呼び出し側・呼び出される側が守るレジスタの約束に従うことでArduino C++と接続できます。今回の関数はcall-clobberedのr18〜r27、r30〜r31などを使用しています。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根拠はユーザー添付の原本と、この会話で作成したソースコード・テスト出力です。今回のアセンブリZIPはGitHubのcodex/assembly-zip-downloadブランチに保存されています。再現用の詳細はZIP内のREADME_ASM.mdを参照します。検証済みツールはAVR GCC 14.2.0、Arduino AVR Core 1.8.7、simavr 1.6です。参照先：https://github.com/toritenn27-netizen/Standard_AES_Measurement/tree/codex/assembly-zip-download 。命令の公式定義：https://www.microchip.com/en-us/product/ATmega328P のドキュメント、および https://sourceware.org/binutils/docs/as/AVR_002dDependent.html 。外部資料は説明の補助としての参照先で、今回の動作一致の根拠は実際のソースと検証記録です。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BEGINNER GUIDE / 01–18 本編・19–21 補足</a:t>
            </a:r>
          </a:p>
        </p:txBody>
      </p:sp>
      <p:sp>
        <p:nvSpPr>
          <p:cNvPr id="4" name="TextBox 3"/>
          <p:cNvSpPr txBox="1"/>
          <p:nvPr/>
        </p:nvSpPr>
        <p:spPr>
          <a:xfrm>
            <a:off x="658368" y="877824"/>
            <a:ext cx="10881360" cy="132588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Arduino Uno の AES を</a:t>
            </a:r>
          </a:p>
          <a:p>
            <a:pPr>
              <a:lnSpc>
                <a:spcPct val="116000"/>
              </a:lnSpc>
              <a:spcBef>
                <a:spcPts val="0"/>
              </a:spcBef>
              <a:spcAft>
                <a:spcPts val="400"/>
              </a:spcAft>
            </a:pPr>
            <a:r>
              <a:rPr sz="3300" b="1" lang="ja-JP">
                <a:solidFill>
                  <a:srgbClr val="183244"/>
                </a:solidFill>
                <a:latin typeface="Noto Sans CJK JP"/>
                <a:ea typeface="Noto Sans CJK JP"/>
              </a:rPr>
              <a:t>アセンブリで読む</a:t>
            </a:r>
          </a:p>
        </p:txBody>
      </p:sp>
      <p:cxnSp>
        <p:nvCxnSpPr>
          <p:cNvPr id="5" name="Connector 4"/>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対象：今回作成した measurement.S と添付の Standard_AES_Measurement.ino</a:t>
            </a:r>
          </a:p>
        </p:txBody>
      </p:sp>
      <p:sp>
        <p:nvSpPr>
          <p:cNvPr id="7" name="TextBox 6"/>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01</a:t>
            </a:r>
          </a:p>
        </p:txBody>
      </p:sp>
      <p:sp>
        <p:nvSpPr>
          <p:cNvPr id="8" name="TextBox 7"/>
          <p:cNvSpPr txBox="1"/>
          <p:nvPr/>
        </p:nvSpPr>
        <p:spPr>
          <a:xfrm>
            <a:off x="713232" y="2560320"/>
            <a:ext cx="9966960" cy="594360"/>
          </a:xfrm>
          <a:prstGeom prst="rect">
            <a:avLst/>
          </a:prstGeom>
          <a:noFill/>
        </p:spPr>
        <p:txBody>
          <a:bodyPr wrap="none" lIns="13716" rIns="13716" tIns="13716" bIns="13716">
            <a:spAutoFit/>
          </a:bodyPr>
          <a:lstStyle/>
          <a:p>
            <a:pPr>
              <a:lnSpc>
                <a:spcPct val="116000"/>
              </a:lnSpc>
              <a:spcBef>
                <a:spcPts val="0"/>
              </a:spcBef>
              <a:spcAft>
                <a:spcPts val="400"/>
              </a:spcAft>
            </a:pPr>
            <a:r>
              <a:rPr sz="2800" b="1" lang="ja-JP">
                <a:solidFill>
                  <a:srgbClr val="007F78"/>
                </a:solidFill>
                <a:latin typeface="Noto Sans CJK JP"/>
                <a:ea typeface="Noto Sans CJK JP"/>
              </a:rPr>
              <a:t>C++ の「1行」を、CPU への「細かい指示」にする。</a:t>
            </a:r>
          </a:p>
        </p:txBody>
      </p:sp>
      <p:sp>
        <p:nvSpPr>
          <p:cNvPr id="9" name="Rounded Rectangle 8"/>
          <p:cNvSpPr/>
          <p:nvPr/>
        </p:nvSpPr>
        <p:spPr>
          <a:xfrm>
            <a:off x="731520" y="3886200"/>
            <a:ext cx="3154680" cy="1325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886200"/>
            <a:ext cx="54864" cy="132588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14215"/>
            <a:ext cx="280720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知る</a:t>
            </a:r>
          </a:p>
        </p:txBody>
      </p:sp>
      <p:sp>
        <p:nvSpPr>
          <p:cNvPr id="12" name="TextBox 11"/>
          <p:cNvSpPr txBox="1"/>
          <p:nvPr/>
        </p:nvSpPr>
        <p:spPr>
          <a:xfrm>
            <a:off x="914400" y="4507992"/>
            <a:ext cx="2807208" cy="667512"/>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CPU・メモリの基礎</a:t>
            </a:r>
          </a:p>
        </p:txBody>
      </p:sp>
      <p:sp>
        <p:nvSpPr>
          <p:cNvPr id="13" name="TextBox 12"/>
          <p:cNvSpPr txBox="1"/>
          <p:nvPr/>
        </p:nvSpPr>
        <p:spPr>
          <a:xfrm>
            <a:off x="914400" y="5440680"/>
            <a:ext cx="2743200" cy="320040"/>
          </a:xfrm>
          <a:prstGeom prst="rect">
            <a:avLst/>
          </a:prstGeom>
          <a:noFill/>
        </p:spPr>
        <p:txBody>
          <a:bodyPr wrap="none" lIns="13716" rIns="13716" tIns="13716" bIns="13716">
            <a:spAutoFit/>
          </a:bodyPr>
          <a:lstStyle/>
          <a:p>
            <a:pPr>
              <a:lnSpc>
                <a:spcPct val="116000"/>
              </a:lnSpc>
              <a:spcBef>
                <a:spcPts val="0"/>
              </a:spcBef>
              <a:spcAft>
                <a:spcPts val="400"/>
              </a:spcAft>
            </a:pPr>
            <a:r>
              <a:rPr sz="1400" b="1" lang="ja-JP">
                <a:solidFill>
                  <a:srgbClr val="007F78"/>
                </a:solidFill>
                <a:latin typeface="Noto Sans CJK JP"/>
                <a:ea typeface="Noto Sans CJK JP"/>
              </a:rPr>
              <a:t>01</a:t>
            </a:r>
          </a:p>
        </p:txBody>
      </p:sp>
      <p:sp>
        <p:nvSpPr>
          <p:cNvPr id="14" name="Rounded Rectangle 13"/>
          <p:cNvSpPr/>
          <p:nvPr/>
        </p:nvSpPr>
        <p:spPr>
          <a:xfrm>
            <a:off x="4526280" y="3886200"/>
            <a:ext cx="3154680" cy="1325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26280" y="3886200"/>
            <a:ext cx="54864" cy="132588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4014215"/>
            <a:ext cx="280720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比べる</a:t>
            </a:r>
          </a:p>
        </p:txBody>
      </p:sp>
      <p:sp>
        <p:nvSpPr>
          <p:cNvPr id="17" name="TextBox 16"/>
          <p:cNvSpPr txBox="1"/>
          <p:nvPr/>
        </p:nvSpPr>
        <p:spPr>
          <a:xfrm>
            <a:off x="4709160" y="4507992"/>
            <a:ext cx="2807208" cy="667512"/>
          </a:xfrm>
          <a:prstGeom prst="rect">
            <a:avLst/>
          </a:prstGeom>
          <a:noFill/>
        </p:spPr>
        <p:txBody>
          <a:bodyPr wrap="none" lIns="13716" rIns="13716" tIns="13716" bIns="13716">
            <a:spAutoFit/>
          </a:bodyPr>
          <a:lstStyle/>
          <a:p>
            <a:pPr>
              <a:lnSpc>
                <a:spcPct val="116000"/>
              </a:lnSpc>
              <a:spcBef>
                <a:spcPts val="0"/>
              </a:spcBef>
              <a:spcAft>
                <a:spcPts val="400"/>
              </a:spcAft>
            </a:pPr>
            <a:r>
              <a:rPr sz="1830" b="0" lang="ja-JP">
                <a:solidFill>
                  <a:srgbClr val="183244"/>
                </a:solidFill>
                <a:latin typeface="Noto Sans CJK JP"/>
                <a:ea typeface="Noto Sans CJK JP"/>
              </a:rPr>
              <a:t>どこを、どう変更したか</a:t>
            </a:r>
          </a:p>
        </p:txBody>
      </p:sp>
      <p:sp>
        <p:nvSpPr>
          <p:cNvPr id="18" name="TextBox 17"/>
          <p:cNvSpPr txBox="1"/>
          <p:nvPr/>
        </p:nvSpPr>
        <p:spPr>
          <a:xfrm>
            <a:off x="4709160" y="5440680"/>
            <a:ext cx="2743200" cy="320040"/>
          </a:xfrm>
          <a:prstGeom prst="rect">
            <a:avLst/>
          </a:prstGeom>
          <a:noFill/>
        </p:spPr>
        <p:txBody>
          <a:bodyPr wrap="none" lIns="13716" rIns="13716" tIns="13716" bIns="13716">
            <a:spAutoFit/>
          </a:bodyPr>
          <a:lstStyle/>
          <a:p>
            <a:pPr>
              <a:lnSpc>
                <a:spcPct val="116000"/>
              </a:lnSpc>
              <a:spcBef>
                <a:spcPts val="0"/>
              </a:spcBef>
              <a:spcAft>
                <a:spcPts val="400"/>
              </a:spcAft>
            </a:pPr>
            <a:r>
              <a:rPr sz="1400" b="1" lang="ja-JP">
                <a:solidFill>
                  <a:srgbClr val="007F78"/>
                </a:solidFill>
                <a:latin typeface="Noto Sans CJK JP"/>
                <a:ea typeface="Noto Sans CJK JP"/>
              </a:rPr>
              <a:t>02</a:t>
            </a:r>
          </a:p>
        </p:txBody>
      </p:sp>
      <p:sp>
        <p:nvSpPr>
          <p:cNvPr id="19" name="Rounded Rectangle 18"/>
          <p:cNvSpPr/>
          <p:nvPr/>
        </p:nvSpPr>
        <p:spPr>
          <a:xfrm>
            <a:off x="8321040" y="3886200"/>
            <a:ext cx="3154680" cy="13258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0" y="3886200"/>
            <a:ext cx="54864" cy="132588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19" y="4014215"/>
            <a:ext cx="280720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読む</a:t>
            </a:r>
          </a:p>
        </p:txBody>
      </p:sp>
      <p:sp>
        <p:nvSpPr>
          <p:cNvPr id="22" name="TextBox 21"/>
          <p:cNvSpPr txBox="1"/>
          <p:nvPr/>
        </p:nvSpPr>
        <p:spPr>
          <a:xfrm>
            <a:off x="8503919" y="4507992"/>
            <a:ext cx="2807208" cy="667512"/>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実際の命令を1行ずつ</a:t>
            </a:r>
          </a:p>
        </p:txBody>
      </p:sp>
      <p:sp>
        <p:nvSpPr>
          <p:cNvPr id="23" name="TextBox 22"/>
          <p:cNvSpPr txBox="1"/>
          <p:nvPr/>
        </p:nvSpPr>
        <p:spPr>
          <a:xfrm>
            <a:off x="8503919" y="5440680"/>
            <a:ext cx="2743200" cy="320040"/>
          </a:xfrm>
          <a:prstGeom prst="rect">
            <a:avLst/>
          </a:prstGeom>
          <a:noFill/>
        </p:spPr>
        <p:txBody>
          <a:bodyPr wrap="none" lIns="13716" rIns="13716" tIns="13716" bIns="13716">
            <a:spAutoFit/>
          </a:bodyPr>
          <a:lstStyle/>
          <a:p>
            <a:pPr>
              <a:lnSpc>
                <a:spcPct val="116000"/>
              </a:lnSpc>
              <a:spcBef>
                <a:spcPts val="0"/>
              </a:spcBef>
              <a:spcAft>
                <a:spcPts val="400"/>
              </a:spcAft>
            </a:pPr>
            <a:r>
              <a:rPr sz="1400" b="1" lang="ja-JP">
                <a:solidFill>
                  <a:srgbClr val="007F78"/>
                </a:solidFill>
                <a:latin typeface="Noto Sans CJK JP"/>
                <a:ea typeface="Noto Sans CJK JP"/>
              </a:rPr>
              <a:t>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1 / 元の動作を知る</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まず、何を測っていたのか？</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平文＝AES への入力データ。16バイトの平文を、同じ値で10回測定します。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原本：execute_aes_std()、loop() / measurement.S:285–292, 148–175</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02</a:t>
            </a:r>
          </a:p>
        </p:txBody>
      </p:sp>
      <p:sp>
        <p:nvSpPr>
          <p:cNvPr id="9" name="Rounded Rectangle 8"/>
          <p:cNvSpPr/>
          <p:nvPr/>
        </p:nvSpPr>
        <p:spPr>
          <a:xfrm>
            <a:off x="731520" y="2697480"/>
            <a:ext cx="1591056" cy="11338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62072"/>
            <a:ext cx="1408176" cy="365760"/>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Noto Sans CJK JP"/>
                <a:ea typeface="Noto Sans CJK JP"/>
              </a:rPr>
              <a:t>平文</a:t>
            </a:r>
          </a:p>
        </p:txBody>
      </p:sp>
      <p:sp>
        <p:nvSpPr>
          <p:cNvPr id="11" name="TextBox 10"/>
          <p:cNvSpPr txBox="1"/>
          <p:nvPr/>
        </p:nvSpPr>
        <p:spPr>
          <a:xfrm>
            <a:off x="804672" y="3383280"/>
            <a:ext cx="1444752" cy="256032"/>
          </a:xfrm>
          <a:prstGeom prst="rect">
            <a:avLst/>
          </a:prstGeom>
          <a:noFill/>
        </p:spPr>
        <p:txBody>
          <a:bodyPr wrap="none" lIns="13716" rIns="13716" tIns="13716" bIns="13716">
            <a:spAutoFit/>
          </a:bodyPr>
          <a:lstStyle/>
          <a:p>
            <a:pPr algn="ctr">
              <a:lnSpc>
                <a:spcPct val="116000"/>
              </a:lnSpc>
              <a:spcBef>
                <a:spcPts val="0"/>
              </a:spcBef>
              <a:spcAft>
                <a:spcPts val="400"/>
              </a:spcAft>
            </a:pPr>
            <a:r>
              <a:rPr sz="1400" b="0" lang="ja-JP">
                <a:solidFill>
                  <a:srgbClr val="61727D"/>
                </a:solidFill>
                <a:latin typeface="Noto Sans CJK JP"/>
                <a:ea typeface="Noto Sans CJK JP"/>
              </a:rPr>
              <a:t>16バイト</a:t>
            </a:r>
          </a:p>
        </p:txBody>
      </p:sp>
      <p:sp>
        <p:nvSpPr>
          <p:cNvPr id="12" name="Right Arrow 11"/>
          <p:cNvSpPr/>
          <p:nvPr/>
        </p:nvSpPr>
        <p:spPr>
          <a:xfrm>
            <a:off x="2368296" y="3136392"/>
            <a:ext cx="201168" cy="173736"/>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615184" y="2697480"/>
            <a:ext cx="1591056" cy="11338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06624" y="2862072"/>
            <a:ext cx="1408176" cy="365760"/>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Noto Sans CJK JP"/>
                <a:ea typeface="Noto Sans CJK JP"/>
              </a:rPr>
              <a:t>初期鍵XOR</a:t>
            </a:r>
          </a:p>
        </p:txBody>
      </p:sp>
      <p:sp>
        <p:nvSpPr>
          <p:cNvPr id="15" name="TextBox 14"/>
          <p:cNvSpPr txBox="1"/>
          <p:nvPr/>
        </p:nvSpPr>
        <p:spPr>
          <a:xfrm>
            <a:off x="2688336" y="3383280"/>
            <a:ext cx="1444752" cy="256032"/>
          </a:xfrm>
          <a:prstGeom prst="rect">
            <a:avLst/>
          </a:prstGeom>
          <a:noFill/>
        </p:spPr>
        <p:txBody>
          <a:bodyPr wrap="none" lIns="13716" rIns="13716" tIns="13716" bIns="13716">
            <a:spAutoFit/>
          </a:bodyPr>
          <a:lstStyle/>
          <a:p>
            <a:pPr algn="ctr">
              <a:lnSpc>
                <a:spcPct val="116000"/>
              </a:lnSpc>
              <a:spcBef>
                <a:spcPts val="0"/>
              </a:spcBef>
              <a:spcAft>
                <a:spcPts val="400"/>
              </a:spcAft>
            </a:pPr>
            <a:r>
              <a:rPr sz="1400" b="0" lang="ja-JP">
                <a:solidFill>
                  <a:srgbClr val="61727D"/>
                </a:solidFill>
                <a:latin typeface="Noto Sans CJK JP"/>
                <a:ea typeface="Noto Sans CJK JP"/>
              </a:rPr>
              <a:t>Round 0</a:t>
            </a:r>
          </a:p>
        </p:txBody>
      </p:sp>
      <p:sp>
        <p:nvSpPr>
          <p:cNvPr id="16" name="Right Arrow 15"/>
          <p:cNvSpPr/>
          <p:nvPr/>
        </p:nvSpPr>
        <p:spPr>
          <a:xfrm>
            <a:off x="4251960" y="3136392"/>
            <a:ext cx="201168" cy="173736"/>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98848" y="2697480"/>
            <a:ext cx="1591056" cy="11338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0288" y="2862072"/>
            <a:ext cx="1408176" cy="365760"/>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Noto Sans CJK JP"/>
                <a:ea typeface="Noto Sans CJK JP"/>
              </a:rPr>
              <a:t>置き換え</a:t>
            </a:r>
          </a:p>
        </p:txBody>
      </p:sp>
      <p:sp>
        <p:nvSpPr>
          <p:cNvPr id="19" name="TextBox 18"/>
          <p:cNvSpPr txBox="1"/>
          <p:nvPr/>
        </p:nvSpPr>
        <p:spPr>
          <a:xfrm>
            <a:off x="4572000" y="3383280"/>
            <a:ext cx="1444752" cy="256032"/>
          </a:xfrm>
          <a:prstGeom prst="rect">
            <a:avLst/>
          </a:prstGeom>
          <a:noFill/>
        </p:spPr>
        <p:txBody>
          <a:bodyPr wrap="none" lIns="13716" rIns="13716" tIns="13716" bIns="13716">
            <a:spAutoFit/>
          </a:bodyPr>
          <a:lstStyle/>
          <a:p>
            <a:pPr algn="ctr">
              <a:lnSpc>
                <a:spcPct val="116000"/>
              </a:lnSpc>
              <a:spcBef>
                <a:spcPts val="0"/>
              </a:spcBef>
              <a:spcAft>
                <a:spcPts val="400"/>
              </a:spcAft>
            </a:pPr>
            <a:r>
              <a:rPr sz="1400" b="0" lang="ja-JP">
                <a:solidFill>
                  <a:srgbClr val="61727D"/>
                </a:solidFill>
                <a:latin typeface="Noto Sans CJK JP"/>
                <a:ea typeface="Noto Sans CJK JP"/>
              </a:rPr>
              <a:t>SubBytes</a:t>
            </a:r>
          </a:p>
        </p:txBody>
      </p:sp>
      <p:sp>
        <p:nvSpPr>
          <p:cNvPr id="20" name="Right Arrow 19"/>
          <p:cNvSpPr/>
          <p:nvPr/>
        </p:nvSpPr>
        <p:spPr>
          <a:xfrm>
            <a:off x="6135624" y="3136392"/>
            <a:ext cx="201168" cy="173736"/>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82512" y="2697480"/>
            <a:ext cx="1591056" cy="11338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1" y="2862072"/>
            <a:ext cx="1408176" cy="365760"/>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Noto Sans CJK JP"/>
                <a:ea typeface="Noto Sans CJK JP"/>
              </a:rPr>
              <a:t>並べ替え</a:t>
            </a:r>
          </a:p>
        </p:txBody>
      </p:sp>
      <p:sp>
        <p:nvSpPr>
          <p:cNvPr id="23" name="TextBox 22"/>
          <p:cNvSpPr txBox="1"/>
          <p:nvPr/>
        </p:nvSpPr>
        <p:spPr>
          <a:xfrm>
            <a:off x="6455664" y="3383280"/>
            <a:ext cx="1444752" cy="256032"/>
          </a:xfrm>
          <a:prstGeom prst="rect">
            <a:avLst/>
          </a:prstGeom>
          <a:noFill/>
        </p:spPr>
        <p:txBody>
          <a:bodyPr wrap="none" lIns="13716" rIns="13716" tIns="13716" bIns="13716">
            <a:spAutoFit/>
          </a:bodyPr>
          <a:lstStyle/>
          <a:p>
            <a:pPr algn="ctr">
              <a:lnSpc>
                <a:spcPct val="116000"/>
              </a:lnSpc>
              <a:spcBef>
                <a:spcPts val="0"/>
              </a:spcBef>
              <a:spcAft>
                <a:spcPts val="400"/>
              </a:spcAft>
            </a:pPr>
            <a:r>
              <a:rPr sz="1400" b="0" lang="ja-JP">
                <a:solidFill>
                  <a:srgbClr val="61727D"/>
                </a:solidFill>
                <a:latin typeface="Noto Sans CJK JP"/>
                <a:ea typeface="Noto Sans CJK JP"/>
              </a:rPr>
              <a:t>ShiftRows</a:t>
            </a:r>
          </a:p>
        </p:txBody>
      </p:sp>
      <p:sp>
        <p:nvSpPr>
          <p:cNvPr id="24" name="Right Arrow 23"/>
          <p:cNvSpPr/>
          <p:nvPr/>
        </p:nvSpPr>
        <p:spPr>
          <a:xfrm>
            <a:off x="8019288" y="3136392"/>
            <a:ext cx="201168" cy="173736"/>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66176" y="2697480"/>
            <a:ext cx="1591056" cy="11338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57616" y="2862072"/>
            <a:ext cx="1408176" cy="365760"/>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Noto Sans CJK JP"/>
                <a:ea typeface="Noto Sans CJK JP"/>
              </a:rPr>
              <a:t>混合</a:t>
            </a:r>
          </a:p>
        </p:txBody>
      </p:sp>
      <p:sp>
        <p:nvSpPr>
          <p:cNvPr id="27" name="TextBox 26"/>
          <p:cNvSpPr txBox="1"/>
          <p:nvPr/>
        </p:nvSpPr>
        <p:spPr>
          <a:xfrm>
            <a:off x="8339328" y="3383280"/>
            <a:ext cx="1444752" cy="256032"/>
          </a:xfrm>
          <a:prstGeom prst="rect">
            <a:avLst/>
          </a:prstGeom>
          <a:noFill/>
        </p:spPr>
        <p:txBody>
          <a:bodyPr wrap="none" lIns="13716" rIns="13716" tIns="13716" bIns="13716">
            <a:spAutoFit/>
          </a:bodyPr>
          <a:lstStyle/>
          <a:p>
            <a:pPr algn="ctr">
              <a:lnSpc>
                <a:spcPct val="116000"/>
              </a:lnSpc>
              <a:spcBef>
                <a:spcPts val="0"/>
              </a:spcBef>
              <a:spcAft>
                <a:spcPts val="400"/>
              </a:spcAft>
            </a:pPr>
            <a:r>
              <a:rPr sz="1400" b="0" lang="ja-JP">
                <a:solidFill>
                  <a:srgbClr val="61727D"/>
                </a:solidFill>
                <a:latin typeface="Noto Sans CJK JP"/>
                <a:ea typeface="Noto Sans CJK JP"/>
              </a:rPr>
              <a:t>MixColumns</a:t>
            </a:r>
          </a:p>
        </p:txBody>
      </p:sp>
      <p:sp>
        <p:nvSpPr>
          <p:cNvPr id="28" name="Right Arrow 27"/>
          <p:cNvSpPr/>
          <p:nvPr/>
        </p:nvSpPr>
        <p:spPr>
          <a:xfrm>
            <a:off x="9902952" y="3136392"/>
            <a:ext cx="201168" cy="173736"/>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149840" y="2697480"/>
            <a:ext cx="1591056" cy="11338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0" y="2862072"/>
            <a:ext cx="1408176" cy="365760"/>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Noto Sans CJK JP"/>
                <a:ea typeface="Noto Sans CJK JP"/>
              </a:rPr>
              <a:t>鍵XOR</a:t>
            </a:r>
          </a:p>
        </p:txBody>
      </p:sp>
      <p:sp>
        <p:nvSpPr>
          <p:cNvPr id="31" name="TextBox 30"/>
          <p:cNvSpPr txBox="1"/>
          <p:nvPr/>
        </p:nvSpPr>
        <p:spPr>
          <a:xfrm>
            <a:off x="10222992" y="3383280"/>
            <a:ext cx="1444752" cy="256032"/>
          </a:xfrm>
          <a:prstGeom prst="rect">
            <a:avLst/>
          </a:prstGeom>
          <a:noFill/>
        </p:spPr>
        <p:txBody>
          <a:bodyPr wrap="none" lIns="13716" rIns="13716" tIns="13716" bIns="13716">
            <a:spAutoFit/>
          </a:bodyPr>
          <a:lstStyle/>
          <a:p>
            <a:pPr algn="ctr">
              <a:lnSpc>
                <a:spcPct val="116000"/>
              </a:lnSpc>
              <a:spcBef>
                <a:spcPts val="0"/>
              </a:spcBef>
              <a:spcAft>
                <a:spcPts val="400"/>
              </a:spcAft>
            </a:pPr>
            <a:r>
              <a:rPr sz="1400" b="0" lang="ja-JP">
                <a:solidFill>
                  <a:srgbClr val="61727D"/>
                </a:solidFill>
                <a:latin typeface="Noto Sans CJK JP"/>
                <a:ea typeface="Noto Sans CJK JP"/>
              </a:rPr>
              <a:t>Round 1</a:t>
            </a:r>
          </a:p>
        </p:txBody>
      </p:sp>
      <p:cxnSp>
        <p:nvCxnSpPr>
          <p:cNvPr id="32" name="Connector 31"/>
          <p:cNvCxnSpPr/>
          <p:nvPr/>
        </p:nvCxnSpPr>
        <p:spPr>
          <a:xfrm>
            <a:off x="2596896" y="4251960"/>
            <a:ext cx="9089136" cy="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606040" y="4443984"/>
            <a:ext cx="8869680" cy="320040"/>
          </a:xfrm>
          <a:prstGeom prst="rect">
            <a:avLst/>
          </a:prstGeom>
          <a:noFill/>
        </p:spPr>
        <p:txBody>
          <a:bodyPr wrap="none" lIns="13716" rIns="13716" tIns="13716" bIns="13716">
            <a:spAutoFit/>
          </a:bodyPr>
          <a:lstStyle/>
          <a:p>
            <a:pPr>
              <a:lnSpc>
                <a:spcPct val="116000"/>
              </a:lnSpc>
              <a:spcBef>
                <a:spcPts val="0"/>
              </a:spcBef>
              <a:spcAft>
                <a:spcPts val="400"/>
              </a:spcAft>
            </a:pPr>
            <a:r>
              <a:rPr sz="2100" b="1" lang="ja-JP">
                <a:solidFill>
                  <a:srgbClr val="007F78"/>
                </a:solidFill>
                <a:latin typeface="Noto Sans CJK JP"/>
                <a:ea typeface="Noto Sans CJK JP"/>
              </a:rPr>
              <a:t>D5 を HIGH にする → この計算区間を測定 → LOW にする</a:t>
            </a:r>
          </a:p>
        </p:txBody>
      </p:sp>
      <p:sp>
        <p:nvSpPr>
          <p:cNvPr id="34" name="Rounded Rectangle 33"/>
          <p:cNvSpPr/>
          <p:nvPr/>
        </p:nvSpPr>
        <p:spPr>
          <a:xfrm>
            <a:off x="731520" y="5138928"/>
            <a:ext cx="10863072" cy="91440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1520" y="5138928"/>
            <a:ext cx="54864" cy="914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230368"/>
            <a:ext cx="10515600" cy="384048"/>
          </a:xfrm>
          <a:prstGeom prst="rect">
            <a:avLst/>
          </a:prstGeom>
          <a:noFill/>
        </p:spPr>
        <p:txBody>
          <a:bodyPr wrap="none" lIns="13716" rIns="13716" tIns="13716" bIns="13716">
            <a:spAutoFit/>
          </a:bodyPr>
          <a:lstStyle/>
          <a:p>
            <a:pPr>
              <a:lnSpc>
                <a:spcPct val="116000"/>
              </a:lnSpc>
              <a:spcBef>
                <a:spcPts val="0"/>
              </a:spcBef>
              <a:spcAft>
                <a:spcPts val="400"/>
              </a:spcAft>
            </a:pPr>
            <a:r>
              <a:rPr sz="2100" b="1" lang="ja-JP">
                <a:solidFill>
                  <a:srgbClr val="007F78"/>
                </a:solidFill>
                <a:latin typeface="Noto Sans CJK JP"/>
                <a:ea typeface="Noto Sans CJK JP"/>
              </a:rPr>
              <a:t>測定用の「初期 XOR ＋ 第1ラウンド」</a:t>
            </a:r>
          </a:p>
        </p:txBody>
      </p:sp>
      <p:sp>
        <p:nvSpPr>
          <p:cNvPr id="37" name="TextBox 36"/>
          <p:cNvSpPr txBox="1"/>
          <p:nvPr/>
        </p:nvSpPr>
        <p:spPr>
          <a:xfrm>
            <a:off x="914400" y="5623560"/>
            <a:ext cx="10515600" cy="393192"/>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183244"/>
                </a:solidFill>
                <a:latin typeface="Noto Sans CJK JP"/>
                <a:ea typeface="Noto Sans CJK JP"/>
              </a:rPr>
              <a:t>AES-128 の全10ラウンド暗号化ではありません。</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2 / アセンブリ化の意味</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両方とも、最後は「機械語」になる</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アセンブリでは、CPU に行わせる小さな操作を人が明示します。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Arduino Uno / ATmega328P  |  AES measurement → AVR assembly</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03</a:t>
            </a:r>
          </a:p>
        </p:txBody>
      </p:sp>
      <p:sp>
        <p:nvSpPr>
          <p:cNvPr id="9" name="Rounded Rectangle 8"/>
          <p:cNvSpPr/>
          <p:nvPr/>
        </p:nvSpPr>
        <p:spPr>
          <a:xfrm>
            <a:off x="731520" y="2651760"/>
            <a:ext cx="2468880" cy="91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51760"/>
            <a:ext cx="54864" cy="914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79776"/>
            <a:ext cx="212140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C++</a:t>
            </a:r>
          </a:p>
        </p:txBody>
      </p:sp>
      <p:sp>
        <p:nvSpPr>
          <p:cNvPr id="12" name="Right Arrow 11"/>
          <p:cNvSpPr/>
          <p:nvPr/>
        </p:nvSpPr>
        <p:spPr>
          <a:xfrm>
            <a:off x="3401568" y="2944368"/>
            <a:ext cx="548640" cy="274320"/>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60520" y="2651760"/>
            <a:ext cx="3017520" cy="91440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60520" y="2651760"/>
            <a:ext cx="54864" cy="914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2779776"/>
            <a:ext cx="267004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コンパイラ</a:t>
            </a:r>
          </a:p>
        </p:txBody>
      </p:sp>
      <p:sp>
        <p:nvSpPr>
          <p:cNvPr id="16" name="Right Arrow 15"/>
          <p:cNvSpPr/>
          <p:nvPr/>
        </p:nvSpPr>
        <p:spPr>
          <a:xfrm>
            <a:off x="7406640" y="2944368"/>
            <a:ext cx="548640" cy="274320"/>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3879" y="2651760"/>
            <a:ext cx="3218688" cy="91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2651760"/>
            <a:ext cx="54864" cy="914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59" y="2779776"/>
            <a:ext cx="2871216"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機械語</a:t>
            </a:r>
          </a:p>
        </p:txBody>
      </p:sp>
      <p:sp>
        <p:nvSpPr>
          <p:cNvPr id="20" name="TextBox 19"/>
          <p:cNvSpPr txBox="1"/>
          <p:nvPr/>
        </p:nvSpPr>
        <p:spPr>
          <a:xfrm>
            <a:off x="886968" y="3648456"/>
            <a:ext cx="10424160" cy="32004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61727D"/>
                </a:solidFill>
                <a:latin typeface="Noto Sans CJK JP"/>
                <a:ea typeface="Noto Sans CJK JP"/>
              </a:rPr>
              <a:t>まとまった処理を書き、変換を任せる</a:t>
            </a:r>
          </a:p>
        </p:txBody>
      </p:sp>
      <p:sp>
        <p:nvSpPr>
          <p:cNvPr id="21" name="Rounded Rectangle 20"/>
          <p:cNvSpPr/>
          <p:nvPr/>
        </p:nvSpPr>
        <p:spPr>
          <a:xfrm>
            <a:off x="731520" y="4114800"/>
            <a:ext cx="2468880" cy="91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114800"/>
            <a:ext cx="54864" cy="914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242816"/>
            <a:ext cx="212140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アセンブリ</a:t>
            </a:r>
          </a:p>
        </p:txBody>
      </p:sp>
      <p:sp>
        <p:nvSpPr>
          <p:cNvPr id="24" name="Right Arrow 23"/>
          <p:cNvSpPr/>
          <p:nvPr/>
        </p:nvSpPr>
        <p:spPr>
          <a:xfrm>
            <a:off x="3401568" y="4407408"/>
            <a:ext cx="548640" cy="274320"/>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160520" y="4114800"/>
            <a:ext cx="3017520" cy="91440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60520" y="4114800"/>
            <a:ext cx="54864" cy="914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4242816"/>
            <a:ext cx="267004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アセンブラ</a:t>
            </a:r>
          </a:p>
        </p:txBody>
      </p:sp>
      <p:sp>
        <p:nvSpPr>
          <p:cNvPr id="28" name="Right Arrow 27"/>
          <p:cNvSpPr/>
          <p:nvPr/>
        </p:nvSpPr>
        <p:spPr>
          <a:xfrm>
            <a:off x="7406640" y="4407408"/>
            <a:ext cx="548640" cy="274320"/>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83879" y="4114800"/>
            <a:ext cx="3218688" cy="91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83879" y="4114800"/>
            <a:ext cx="54864" cy="914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66759" y="4242816"/>
            <a:ext cx="2871216"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機械語</a:t>
            </a:r>
          </a:p>
        </p:txBody>
      </p:sp>
      <p:sp>
        <p:nvSpPr>
          <p:cNvPr id="32" name="TextBox 31"/>
          <p:cNvSpPr txBox="1"/>
          <p:nvPr/>
        </p:nvSpPr>
        <p:spPr>
          <a:xfrm>
            <a:off x="886968" y="5111496"/>
            <a:ext cx="10424160" cy="32004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61727D"/>
                </a:solidFill>
                <a:latin typeface="Noto Sans CJK JP"/>
                <a:ea typeface="Noto Sans CJK JP"/>
              </a:rPr>
              <a:t>読む・計算する・保存する、を具体的に書く</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2 / CPU の作業場所</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レジスタ・SRAM・フラッシュを区別する</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Uno は8ビットCPU。レジスタ1個には、通常1バイトを入れます。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Arduino Uno / ATmega328P  |  AES measurement → AVR assembly</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04</a:t>
            </a:r>
          </a:p>
        </p:txBody>
      </p:sp>
      <p:sp>
        <p:nvSpPr>
          <p:cNvPr id="9" name="Rounded Rectangle 8"/>
          <p:cNvSpPr/>
          <p:nvPr/>
        </p:nvSpPr>
        <p:spPr>
          <a:xfrm>
            <a:off x="731520" y="2670048"/>
            <a:ext cx="3136392" cy="1600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70048"/>
            <a:ext cx="54864" cy="16002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98064"/>
            <a:ext cx="2788920"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レジスタ</a:t>
            </a:r>
          </a:p>
        </p:txBody>
      </p:sp>
      <p:sp>
        <p:nvSpPr>
          <p:cNvPr id="12" name="TextBox 11"/>
          <p:cNvSpPr txBox="1"/>
          <p:nvPr/>
        </p:nvSpPr>
        <p:spPr>
          <a:xfrm>
            <a:off x="914400" y="3291840"/>
            <a:ext cx="2788920" cy="941832"/>
          </a:xfrm>
          <a:prstGeom prst="rect">
            <a:avLst/>
          </a:prstGeom>
          <a:noFill/>
        </p:spPr>
        <p:txBody>
          <a:bodyPr wrap="none" lIns="13716" rIns="13716" tIns="13716" bIns="13716">
            <a:spAutoFit/>
          </a:bodyPr>
          <a:lstStyle/>
          <a:p>
            <a:pPr>
              <a:lnSpc>
                <a:spcPct val="116000"/>
              </a:lnSpc>
              <a:spcBef>
                <a:spcPts val="0"/>
              </a:spcBef>
              <a:spcAft>
                <a:spcPts val="400"/>
              </a:spcAft>
            </a:pPr>
            <a:r>
              <a:rPr sz="1780" b="0" lang="ja-JP">
                <a:solidFill>
                  <a:srgbClr val="183244"/>
                </a:solidFill>
                <a:latin typeface="Noto Sans CJK JP"/>
                <a:ea typeface="Noto Sans CJK JP"/>
              </a:rPr>
              <a:t>CPU 内の小さな作業場所</a:t>
            </a:r>
          </a:p>
        </p:txBody>
      </p:sp>
      <p:sp>
        <p:nvSpPr>
          <p:cNvPr id="13" name="TextBox 12"/>
          <p:cNvSpPr txBox="1"/>
          <p:nvPr/>
        </p:nvSpPr>
        <p:spPr>
          <a:xfrm>
            <a:off x="896112" y="4526280"/>
            <a:ext cx="2807208" cy="438912"/>
          </a:xfrm>
          <a:prstGeom prst="rect">
            <a:avLst/>
          </a:prstGeom>
          <a:noFill/>
        </p:spPr>
        <p:txBody>
          <a:bodyPr wrap="none" lIns="13716" rIns="13716" tIns="13716" bIns="13716">
            <a:spAutoFit/>
          </a:bodyPr>
          <a:lstStyle/>
          <a:p>
            <a:pPr>
              <a:lnSpc>
                <a:spcPct val="116000"/>
              </a:lnSpc>
              <a:spcBef>
                <a:spcPts val="0"/>
              </a:spcBef>
              <a:spcAft>
                <a:spcPts val="400"/>
              </a:spcAft>
            </a:pPr>
            <a:r>
              <a:rPr sz="2100" b="1" lang="ja-JP">
                <a:solidFill>
                  <a:srgbClr val="007F78"/>
                </a:solidFill>
                <a:latin typeface="Noto Sans CJK JP"/>
                <a:ea typeface="Noto Sans CJK JP"/>
              </a:rPr>
              <a:t>r18、r19 など</a:t>
            </a:r>
          </a:p>
        </p:txBody>
      </p:sp>
      <p:sp>
        <p:nvSpPr>
          <p:cNvPr id="14" name="Rounded Rectangle 13"/>
          <p:cNvSpPr/>
          <p:nvPr/>
        </p:nvSpPr>
        <p:spPr>
          <a:xfrm>
            <a:off x="4526280" y="2670048"/>
            <a:ext cx="3136392" cy="1600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26280" y="2670048"/>
            <a:ext cx="54864" cy="16002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2798064"/>
            <a:ext cx="2788920"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SRAM</a:t>
            </a:r>
          </a:p>
        </p:txBody>
      </p:sp>
      <p:sp>
        <p:nvSpPr>
          <p:cNvPr id="17" name="TextBox 16"/>
          <p:cNvSpPr txBox="1"/>
          <p:nvPr/>
        </p:nvSpPr>
        <p:spPr>
          <a:xfrm>
            <a:off x="4709160" y="3291840"/>
            <a:ext cx="2788920" cy="941832"/>
          </a:xfrm>
          <a:prstGeom prst="rect">
            <a:avLst/>
          </a:prstGeom>
          <a:noFill/>
        </p:spPr>
        <p:txBody>
          <a:bodyPr wrap="none" lIns="13716" rIns="13716" tIns="13716" bIns="13716">
            <a:spAutoFit/>
          </a:bodyPr>
          <a:lstStyle/>
          <a:p>
            <a:pPr>
              <a:lnSpc>
                <a:spcPct val="116000"/>
              </a:lnSpc>
              <a:spcBef>
                <a:spcPts val="0"/>
              </a:spcBef>
              <a:spcAft>
                <a:spcPts val="400"/>
              </a:spcAft>
            </a:pPr>
            <a:r>
              <a:rPr sz="1660" b="0" lang="ja-JP">
                <a:solidFill>
                  <a:srgbClr val="183244"/>
                </a:solidFill>
                <a:latin typeface="Noto Sans CJK JP"/>
                <a:ea typeface="Noto Sans CJK JP"/>
              </a:rPr>
              <a:t>処理中に読み書きする場所</a:t>
            </a:r>
          </a:p>
        </p:txBody>
      </p:sp>
      <p:sp>
        <p:nvSpPr>
          <p:cNvPr id="18" name="TextBox 17"/>
          <p:cNvSpPr txBox="1"/>
          <p:nvPr/>
        </p:nvSpPr>
        <p:spPr>
          <a:xfrm>
            <a:off x="4690872" y="4526280"/>
            <a:ext cx="2807208" cy="438912"/>
          </a:xfrm>
          <a:prstGeom prst="rect">
            <a:avLst/>
          </a:prstGeom>
          <a:noFill/>
        </p:spPr>
        <p:txBody>
          <a:bodyPr wrap="none" lIns="13716" rIns="13716" tIns="13716" bIns="13716">
            <a:spAutoFit/>
          </a:bodyPr>
          <a:lstStyle/>
          <a:p>
            <a:pPr>
              <a:lnSpc>
                <a:spcPct val="116000"/>
              </a:lnSpc>
              <a:spcBef>
                <a:spcPts val="0"/>
              </a:spcBef>
              <a:spcAft>
                <a:spcPts val="400"/>
              </a:spcAft>
            </a:pPr>
            <a:r>
              <a:rPr sz="1900" b="1" lang="ja-JP">
                <a:solidFill>
                  <a:srgbClr val="007F78"/>
                </a:solidFill>
                <a:latin typeface="Noto Sans CJK JP"/>
                <a:ea typeface="Noto Sans CJK JP"/>
              </a:rPr>
              <a:t>state、pt、round_keys</a:t>
            </a:r>
          </a:p>
        </p:txBody>
      </p:sp>
      <p:sp>
        <p:nvSpPr>
          <p:cNvPr id="19" name="Rounded Rectangle 18"/>
          <p:cNvSpPr/>
          <p:nvPr/>
        </p:nvSpPr>
        <p:spPr>
          <a:xfrm>
            <a:off x="8321040" y="2670048"/>
            <a:ext cx="3136392" cy="1600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0" y="2670048"/>
            <a:ext cx="54864" cy="16002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19" y="2798064"/>
            <a:ext cx="2788920"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フラッシュ</a:t>
            </a:r>
          </a:p>
        </p:txBody>
      </p:sp>
      <p:sp>
        <p:nvSpPr>
          <p:cNvPr id="22" name="TextBox 21"/>
          <p:cNvSpPr txBox="1"/>
          <p:nvPr/>
        </p:nvSpPr>
        <p:spPr>
          <a:xfrm>
            <a:off x="8503919" y="3291840"/>
            <a:ext cx="2788920" cy="941832"/>
          </a:xfrm>
          <a:prstGeom prst="rect">
            <a:avLst/>
          </a:prstGeom>
          <a:noFill/>
        </p:spPr>
        <p:txBody>
          <a:bodyPr wrap="none" lIns="13716" rIns="13716" tIns="13716" bIns="13716">
            <a:spAutoFit/>
          </a:bodyPr>
          <a:lstStyle/>
          <a:p>
            <a:pPr>
              <a:lnSpc>
                <a:spcPct val="116000"/>
              </a:lnSpc>
              <a:spcBef>
                <a:spcPts val="0"/>
              </a:spcBef>
              <a:spcAft>
                <a:spcPts val="400"/>
              </a:spcAft>
            </a:pPr>
            <a:r>
              <a:rPr sz="1530" b="0" lang="ja-JP">
                <a:solidFill>
                  <a:srgbClr val="183244"/>
                </a:solidFill>
                <a:latin typeface="Noto Sans CJK JP"/>
                <a:ea typeface="Noto Sans CJK JP"/>
              </a:rPr>
              <a:t>プログラムや定数を置く場所</a:t>
            </a:r>
          </a:p>
        </p:txBody>
      </p:sp>
      <p:sp>
        <p:nvSpPr>
          <p:cNvPr id="23" name="TextBox 22"/>
          <p:cNvSpPr txBox="1"/>
          <p:nvPr/>
        </p:nvSpPr>
        <p:spPr>
          <a:xfrm>
            <a:off x="8485632" y="4526280"/>
            <a:ext cx="2807208" cy="438912"/>
          </a:xfrm>
          <a:prstGeom prst="rect">
            <a:avLst/>
          </a:prstGeom>
          <a:noFill/>
        </p:spPr>
        <p:txBody>
          <a:bodyPr wrap="none" lIns="13716" rIns="13716" tIns="13716" bIns="13716">
            <a:spAutoFit/>
          </a:bodyPr>
          <a:lstStyle/>
          <a:p>
            <a:pPr>
              <a:lnSpc>
                <a:spcPct val="116000"/>
              </a:lnSpc>
              <a:spcBef>
                <a:spcPts val="0"/>
              </a:spcBef>
              <a:spcAft>
                <a:spcPts val="400"/>
              </a:spcAft>
            </a:pPr>
            <a:r>
              <a:rPr sz="2100" b="1" lang="ja-JP">
                <a:solidFill>
                  <a:srgbClr val="007F78"/>
                </a:solidFill>
                <a:latin typeface="Noto Sans CJK JP"/>
                <a:ea typeface="Noto Sans CJK JP"/>
              </a:rPr>
              <a:t>命令、S-Box</a:t>
            </a:r>
          </a:p>
        </p:txBody>
      </p:sp>
      <p:sp>
        <p:nvSpPr>
          <p:cNvPr id="24" name="TextBox 23"/>
          <p:cNvSpPr txBox="1"/>
          <p:nvPr/>
        </p:nvSpPr>
        <p:spPr>
          <a:xfrm>
            <a:off x="896112" y="5175504"/>
            <a:ext cx="10515600" cy="86868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state は、計算途中の16バイトのデータです。</a:t>
            </a:r>
          </a:p>
          <a:p>
            <a:pPr>
              <a:lnSpc>
                <a:spcPct val="116000"/>
              </a:lnSpc>
              <a:spcBef>
                <a:spcPts val="0"/>
              </a:spcBef>
              <a:spcAft>
                <a:spcPts val="400"/>
              </a:spcAft>
            </a:pPr>
            <a:r>
              <a:rPr sz="2000" b="0" lang="ja-JP">
                <a:solidFill>
                  <a:srgbClr val="183244"/>
                </a:solidFill>
                <a:latin typeface="Noto Sans CJK JP"/>
                <a:ea typeface="Noto Sans CJK JP"/>
              </a:rPr>
              <a:t>X・Z は「メモリのどこを見るか」を示す、アドレス用のレジスタ組です。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3 / 1行の読み方</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「命令 → 対象 → 説明」の順で読む</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AVR の2オペランド命令では、一般に左側が結果の置き場所です。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Arduino Uno / ATmega328P  |  AES measurement → AVR assembly</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05</a:t>
            </a:r>
          </a:p>
        </p:txBody>
      </p:sp>
      <p:sp>
        <p:nvSpPr>
          <p:cNvPr id="9" name="Rounded Rectangle 8"/>
          <p:cNvSpPr/>
          <p:nvPr/>
        </p:nvSpPr>
        <p:spPr>
          <a:xfrm>
            <a:off x="804672" y="2606040"/>
            <a:ext cx="10561320" cy="1148334"/>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715768"/>
            <a:ext cx="10158984" cy="256032"/>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8FBCB7"/>
                </a:solidFill>
                <a:latin typeface="Noto Sans CJK JP"/>
                <a:ea typeface="Noto Sans CJK JP"/>
              </a:rPr>
              <a:t>命令の読み方（コメントは説明用）</a:t>
            </a:r>
          </a:p>
        </p:txBody>
      </p:sp>
      <p:sp>
        <p:nvSpPr>
          <p:cNvPr id="11" name="TextBox 10"/>
          <p:cNvSpPr txBox="1"/>
          <p:nvPr/>
        </p:nvSpPr>
        <p:spPr>
          <a:xfrm>
            <a:off x="1014984" y="3108960"/>
            <a:ext cx="10140696" cy="535432"/>
          </a:xfrm>
          <a:prstGeom prst="rect">
            <a:avLst/>
          </a:prstGeom>
          <a:noFill/>
        </p:spPr>
        <p:txBody>
          <a:bodyPr wrap="none" lIns="13716" rIns="13716" tIns="13716" bIns="13716">
            <a:spAutoFit/>
          </a:bodyPr>
          <a:lstStyle/>
          <a:p>
            <a:pPr>
              <a:lnSpc>
                <a:spcPct val="116000"/>
              </a:lnSpc>
              <a:spcBef>
                <a:spcPts val="0"/>
              </a:spcBef>
              <a:spcAft>
                <a:spcPts val="400"/>
              </a:spcAft>
            </a:pPr>
            <a:r>
              <a:rPr sz="3400" b="0" lang="ja-JP">
                <a:solidFill>
                  <a:srgbClr val="EAF3F1"/>
                </a:solidFill>
                <a:latin typeface="DejaVu Sans Mono"/>
                <a:ea typeface="Noto Sans CJK JP"/>
              </a:rPr>
              <a:t>eor  r18, r19   ; XOR</a:t>
            </a:r>
          </a:p>
        </p:txBody>
      </p:sp>
      <p:sp>
        <p:nvSpPr>
          <p:cNvPr id="12" name="Rounded Rectangle 11"/>
          <p:cNvSpPr/>
          <p:nvPr/>
        </p:nvSpPr>
        <p:spPr>
          <a:xfrm>
            <a:off x="822960" y="4206240"/>
            <a:ext cx="3182112" cy="12801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4206240"/>
            <a:ext cx="54864" cy="128016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334255"/>
            <a:ext cx="2834640"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eor</a:t>
            </a:r>
          </a:p>
        </p:txBody>
      </p:sp>
      <p:sp>
        <p:nvSpPr>
          <p:cNvPr id="15" name="TextBox 14"/>
          <p:cNvSpPr txBox="1"/>
          <p:nvPr/>
        </p:nvSpPr>
        <p:spPr>
          <a:xfrm>
            <a:off x="1005840" y="4828031"/>
            <a:ext cx="2834640" cy="621792"/>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XOR を行う命令</a:t>
            </a:r>
          </a:p>
        </p:txBody>
      </p:sp>
      <p:sp>
        <p:nvSpPr>
          <p:cNvPr id="16" name="Rounded Rectangle 15"/>
          <p:cNvSpPr/>
          <p:nvPr/>
        </p:nvSpPr>
        <p:spPr>
          <a:xfrm>
            <a:off x="4526280" y="4206240"/>
            <a:ext cx="3182112" cy="12801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26280" y="4206240"/>
            <a:ext cx="54864" cy="128016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4334255"/>
            <a:ext cx="2834640"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r18, r19</a:t>
            </a:r>
          </a:p>
        </p:txBody>
      </p:sp>
      <p:sp>
        <p:nvSpPr>
          <p:cNvPr id="19" name="TextBox 18"/>
          <p:cNvSpPr txBox="1"/>
          <p:nvPr/>
        </p:nvSpPr>
        <p:spPr>
          <a:xfrm>
            <a:off x="4709160" y="4828031"/>
            <a:ext cx="2834640" cy="621792"/>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r18 と r19 を使う</a:t>
            </a:r>
          </a:p>
        </p:txBody>
      </p:sp>
      <p:sp>
        <p:nvSpPr>
          <p:cNvPr id="20" name="Rounded Rectangle 19"/>
          <p:cNvSpPr/>
          <p:nvPr/>
        </p:nvSpPr>
        <p:spPr>
          <a:xfrm>
            <a:off x="8229600" y="4206240"/>
            <a:ext cx="3182112" cy="12801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4206240"/>
            <a:ext cx="54864" cy="128016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4334255"/>
            <a:ext cx="2834640"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 以降</a:t>
            </a:r>
          </a:p>
        </p:txBody>
      </p:sp>
      <p:sp>
        <p:nvSpPr>
          <p:cNvPr id="23" name="TextBox 22"/>
          <p:cNvSpPr txBox="1"/>
          <p:nvPr/>
        </p:nvSpPr>
        <p:spPr>
          <a:xfrm>
            <a:off x="8412480" y="4828031"/>
            <a:ext cx="2834640" cy="621792"/>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人が読むコメント</a:t>
            </a:r>
          </a:p>
        </p:txBody>
      </p:sp>
      <p:sp>
        <p:nvSpPr>
          <p:cNvPr id="24" name="TextBox 23"/>
          <p:cNvSpPr txBox="1"/>
          <p:nvPr/>
        </p:nvSpPr>
        <p:spPr>
          <a:xfrm>
            <a:off x="868680" y="5751576"/>
            <a:ext cx="10607040" cy="274320"/>
          </a:xfrm>
          <a:prstGeom prst="rect">
            <a:avLst/>
          </a:prstGeom>
          <a:noFill/>
        </p:spPr>
        <p:txBody>
          <a:bodyPr wrap="none" lIns="13716" rIns="13716" tIns="13716" bIns="13716">
            <a:spAutoFit/>
          </a:bodyPr>
          <a:lstStyle/>
          <a:p>
            <a:pPr>
              <a:lnSpc>
                <a:spcPct val="116000"/>
              </a:lnSpc>
              <a:spcBef>
                <a:spcPts val="0"/>
              </a:spcBef>
              <a:spcAft>
                <a:spcPts val="400"/>
              </a:spcAft>
            </a:pPr>
            <a:r>
              <a:rPr sz="2100" b="1" lang="ja-JP">
                <a:solidFill>
                  <a:srgbClr val="007F78"/>
                </a:solidFill>
                <a:latin typeface="Noto Sans CJK JP"/>
                <a:ea typeface="Noto Sans CJK JP"/>
              </a:rPr>
              <a:t>意味：r18 ← r18 XOR r19。r19 の値は変えず、結果を r18 に入れます。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3 / XOR の意味</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XOR は「同じなら0、違えば1」</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2つの数を、ビットごとに比較します。足し算の繰り上がりはありません。</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Arduino Uno / ATmega328P  |  AES measurement → AVR assembly</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06</a:t>
            </a:r>
          </a:p>
        </p:txBody>
      </p:sp>
      <p:sp>
        <p:nvSpPr>
          <p:cNvPr id="9" name="TextBox 8"/>
          <p:cNvSpPr txBox="1"/>
          <p:nvPr/>
        </p:nvSpPr>
        <p:spPr>
          <a:xfrm>
            <a:off x="914400" y="2606040"/>
            <a:ext cx="1234440" cy="411480"/>
          </a:xfrm>
          <a:prstGeom prst="rect">
            <a:avLst/>
          </a:prstGeom>
          <a:noFill/>
        </p:spPr>
        <p:txBody>
          <a:bodyPr wrap="none" lIns="13716" rIns="13716" tIns="13716" bIns="13716">
            <a:spAutoFit/>
          </a:bodyPr>
          <a:lstStyle/>
          <a:p>
            <a:pPr>
              <a:lnSpc>
                <a:spcPct val="116000"/>
              </a:lnSpc>
              <a:spcBef>
                <a:spcPts val="0"/>
              </a:spcBef>
              <a:spcAft>
                <a:spcPts val="400"/>
              </a:spcAft>
            </a:pPr>
            <a:r>
              <a:rPr sz="2400" b="1" lang="ja-JP">
                <a:solidFill>
                  <a:srgbClr val="183244"/>
                </a:solidFill>
                <a:latin typeface="Noto Sans CJK JP"/>
                <a:ea typeface="Noto Sans CJK JP"/>
              </a:rPr>
              <a:t>データ</a:t>
            </a:r>
          </a:p>
        </p:txBody>
      </p:sp>
      <p:sp>
        <p:nvSpPr>
          <p:cNvPr id="10" name="TextBox 9"/>
          <p:cNvSpPr txBox="1"/>
          <p:nvPr/>
        </p:nvSpPr>
        <p:spPr>
          <a:xfrm>
            <a:off x="2468880" y="2606040"/>
            <a:ext cx="5943600" cy="457200"/>
          </a:xfrm>
          <a:prstGeom prst="rect">
            <a:avLst/>
          </a:prstGeom>
          <a:noFill/>
        </p:spPr>
        <p:txBody>
          <a:bodyPr wrap="none" lIns="13716" rIns="13716" tIns="13716" bIns="13716">
            <a:spAutoFit/>
          </a:bodyPr>
          <a:lstStyle/>
          <a:p>
            <a:pPr>
              <a:lnSpc>
                <a:spcPct val="116000"/>
              </a:lnSpc>
              <a:spcBef>
                <a:spcPts val="0"/>
              </a:spcBef>
              <a:spcAft>
                <a:spcPts val="400"/>
              </a:spcAft>
            </a:pPr>
            <a:r>
              <a:rPr sz="3000" b="1" lang="ja-JP">
                <a:solidFill>
                  <a:srgbClr val="183244"/>
                </a:solidFill>
                <a:latin typeface="DejaVu Sans Mono"/>
                <a:ea typeface="Noto Sans CJK JP"/>
              </a:rPr>
              <a:t>0 0 1 1 1 1 0 0</a:t>
            </a:r>
          </a:p>
        </p:txBody>
      </p:sp>
      <p:sp>
        <p:nvSpPr>
          <p:cNvPr id="11" name="TextBox 10"/>
          <p:cNvSpPr txBox="1"/>
          <p:nvPr/>
        </p:nvSpPr>
        <p:spPr>
          <a:xfrm>
            <a:off x="9144000" y="2606040"/>
            <a:ext cx="1828800" cy="457200"/>
          </a:xfrm>
          <a:prstGeom prst="rect">
            <a:avLst/>
          </a:prstGeom>
          <a:noFill/>
        </p:spPr>
        <p:txBody>
          <a:bodyPr wrap="none" lIns="13716" rIns="13716" tIns="13716" bIns="13716">
            <a:spAutoFit/>
          </a:bodyPr>
          <a:lstStyle/>
          <a:p>
            <a:pPr>
              <a:lnSpc>
                <a:spcPct val="116000"/>
              </a:lnSpc>
              <a:spcBef>
                <a:spcPts val="0"/>
              </a:spcBef>
              <a:spcAft>
                <a:spcPts val="400"/>
              </a:spcAft>
            </a:pPr>
            <a:r>
              <a:rPr sz="2700" b="1" lang="ja-JP">
                <a:solidFill>
                  <a:srgbClr val="183244"/>
                </a:solidFill>
                <a:latin typeface="DejaVu Sans Mono"/>
                <a:ea typeface="Noto Sans CJK JP"/>
              </a:rPr>
              <a:t>0x3C</a:t>
            </a:r>
          </a:p>
        </p:txBody>
      </p:sp>
      <p:sp>
        <p:nvSpPr>
          <p:cNvPr id="12" name="TextBox 11"/>
          <p:cNvSpPr txBox="1"/>
          <p:nvPr/>
        </p:nvSpPr>
        <p:spPr>
          <a:xfrm>
            <a:off x="914400" y="3337560"/>
            <a:ext cx="1234440" cy="411480"/>
          </a:xfrm>
          <a:prstGeom prst="rect">
            <a:avLst/>
          </a:prstGeom>
          <a:noFill/>
        </p:spPr>
        <p:txBody>
          <a:bodyPr wrap="none" lIns="13716" rIns="13716" tIns="13716" bIns="13716">
            <a:spAutoFit/>
          </a:bodyPr>
          <a:lstStyle/>
          <a:p>
            <a:pPr>
              <a:lnSpc>
                <a:spcPct val="116000"/>
              </a:lnSpc>
              <a:spcBef>
                <a:spcPts val="0"/>
              </a:spcBef>
              <a:spcAft>
                <a:spcPts val="400"/>
              </a:spcAft>
            </a:pPr>
            <a:r>
              <a:rPr sz="2400" b="1" lang="ja-JP">
                <a:solidFill>
                  <a:srgbClr val="007F78"/>
                </a:solidFill>
                <a:latin typeface="Noto Sans CJK JP"/>
                <a:ea typeface="Noto Sans CJK JP"/>
              </a:rPr>
              <a:t>鍵</a:t>
            </a:r>
          </a:p>
        </p:txBody>
      </p:sp>
      <p:sp>
        <p:nvSpPr>
          <p:cNvPr id="13" name="TextBox 12"/>
          <p:cNvSpPr txBox="1"/>
          <p:nvPr/>
        </p:nvSpPr>
        <p:spPr>
          <a:xfrm>
            <a:off x="2468880" y="3337560"/>
            <a:ext cx="5943600" cy="457200"/>
          </a:xfrm>
          <a:prstGeom prst="rect">
            <a:avLst/>
          </a:prstGeom>
          <a:noFill/>
        </p:spPr>
        <p:txBody>
          <a:bodyPr wrap="none" lIns="13716" rIns="13716" tIns="13716" bIns="13716">
            <a:spAutoFit/>
          </a:bodyPr>
          <a:lstStyle/>
          <a:p>
            <a:pPr>
              <a:lnSpc>
                <a:spcPct val="116000"/>
              </a:lnSpc>
              <a:spcBef>
                <a:spcPts val="0"/>
              </a:spcBef>
              <a:spcAft>
                <a:spcPts val="400"/>
              </a:spcAft>
            </a:pPr>
            <a:r>
              <a:rPr sz="3000" b="1" lang="ja-JP">
                <a:solidFill>
                  <a:srgbClr val="007F78"/>
                </a:solidFill>
                <a:latin typeface="DejaVu Sans Mono"/>
                <a:ea typeface="Noto Sans CJK JP"/>
              </a:rPr>
              <a:t>1 0 1 0 0 1 0 1</a:t>
            </a:r>
          </a:p>
        </p:txBody>
      </p:sp>
      <p:sp>
        <p:nvSpPr>
          <p:cNvPr id="14" name="TextBox 13"/>
          <p:cNvSpPr txBox="1"/>
          <p:nvPr/>
        </p:nvSpPr>
        <p:spPr>
          <a:xfrm>
            <a:off x="9144000" y="3337560"/>
            <a:ext cx="1828800" cy="457200"/>
          </a:xfrm>
          <a:prstGeom prst="rect">
            <a:avLst/>
          </a:prstGeom>
          <a:noFill/>
        </p:spPr>
        <p:txBody>
          <a:bodyPr wrap="none" lIns="13716" rIns="13716" tIns="13716" bIns="13716">
            <a:spAutoFit/>
          </a:bodyPr>
          <a:lstStyle/>
          <a:p>
            <a:pPr>
              <a:lnSpc>
                <a:spcPct val="116000"/>
              </a:lnSpc>
              <a:spcBef>
                <a:spcPts val="0"/>
              </a:spcBef>
              <a:spcAft>
                <a:spcPts val="400"/>
              </a:spcAft>
            </a:pPr>
            <a:r>
              <a:rPr sz="2700" b="1" lang="ja-JP">
                <a:solidFill>
                  <a:srgbClr val="007F78"/>
                </a:solidFill>
                <a:latin typeface="DejaVu Sans Mono"/>
                <a:ea typeface="Noto Sans CJK JP"/>
              </a:rPr>
              <a:t>0xA5</a:t>
            </a:r>
          </a:p>
        </p:txBody>
      </p:sp>
      <p:sp>
        <p:nvSpPr>
          <p:cNvPr id="15" name="TextBox 14"/>
          <p:cNvSpPr txBox="1"/>
          <p:nvPr/>
        </p:nvSpPr>
        <p:spPr>
          <a:xfrm>
            <a:off x="914400" y="4315968"/>
            <a:ext cx="1234440" cy="411480"/>
          </a:xfrm>
          <a:prstGeom prst="rect">
            <a:avLst/>
          </a:prstGeom>
          <a:noFill/>
        </p:spPr>
        <p:txBody>
          <a:bodyPr wrap="none" lIns="13716" rIns="13716" tIns="13716" bIns="13716">
            <a:spAutoFit/>
          </a:bodyPr>
          <a:lstStyle/>
          <a:p>
            <a:pPr>
              <a:lnSpc>
                <a:spcPct val="116000"/>
              </a:lnSpc>
              <a:spcBef>
                <a:spcPts val="0"/>
              </a:spcBef>
              <a:spcAft>
                <a:spcPts val="400"/>
              </a:spcAft>
            </a:pPr>
            <a:r>
              <a:rPr sz="2400" b="1" lang="ja-JP">
                <a:solidFill>
                  <a:srgbClr val="007F78"/>
                </a:solidFill>
                <a:latin typeface="Noto Sans CJK JP"/>
                <a:ea typeface="Noto Sans CJK JP"/>
              </a:rPr>
              <a:t>結果</a:t>
            </a:r>
          </a:p>
        </p:txBody>
      </p:sp>
      <p:sp>
        <p:nvSpPr>
          <p:cNvPr id="16" name="TextBox 15"/>
          <p:cNvSpPr txBox="1"/>
          <p:nvPr/>
        </p:nvSpPr>
        <p:spPr>
          <a:xfrm>
            <a:off x="2468880" y="4315968"/>
            <a:ext cx="5943600" cy="457200"/>
          </a:xfrm>
          <a:prstGeom prst="rect">
            <a:avLst/>
          </a:prstGeom>
          <a:noFill/>
        </p:spPr>
        <p:txBody>
          <a:bodyPr wrap="none" lIns="13716" rIns="13716" tIns="13716" bIns="13716">
            <a:spAutoFit/>
          </a:bodyPr>
          <a:lstStyle/>
          <a:p>
            <a:pPr>
              <a:lnSpc>
                <a:spcPct val="116000"/>
              </a:lnSpc>
              <a:spcBef>
                <a:spcPts val="0"/>
              </a:spcBef>
              <a:spcAft>
                <a:spcPts val="400"/>
              </a:spcAft>
            </a:pPr>
            <a:r>
              <a:rPr sz="3000" b="1" lang="ja-JP">
                <a:solidFill>
                  <a:srgbClr val="007F78"/>
                </a:solidFill>
                <a:latin typeface="DejaVu Sans Mono"/>
                <a:ea typeface="Noto Sans CJK JP"/>
              </a:rPr>
              <a:t>1 0 0 1 1 0 0 1</a:t>
            </a:r>
          </a:p>
        </p:txBody>
      </p:sp>
      <p:sp>
        <p:nvSpPr>
          <p:cNvPr id="17" name="TextBox 16"/>
          <p:cNvSpPr txBox="1"/>
          <p:nvPr/>
        </p:nvSpPr>
        <p:spPr>
          <a:xfrm>
            <a:off x="9144000" y="4315968"/>
            <a:ext cx="1828800" cy="457200"/>
          </a:xfrm>
          <a:prstGeom prst="rect">
            <a:avLst/>
          </a:prstGeom>
          <a:noFill/>
        </p:spPr>
        <p:txBody>
          <a:bodyPr wrap="none" lIns="13716" rIns="13716" tIns="13716" bIns="13716">
            <a:spAutoFit/>
          </a:bodyPr>
          <a:lstStyle/>
          <a:p>
            <a:pPr>
              <a:lnSpc>
                <a:spcPct val="116000"/>
              </a:lnSpc>
              <a:spcBef>
                <a:spcPts val="0"/>
              </a:spcBef>
              <a:spcAft>
                <a:spcPts val="400"/>
              </a:spcAft>
            </a:pPr>
            <a:r>
              <a:rPr sz="2700" b="1" lang="ja-JP">
                <a:solidFill>
                  <a:srgbClr val="007F78"/>
                </a:solidFill>
                <a:latin typeface="DejaVu Sans Mono"/>
                <a:ea typeface="Noto Sans CJK JP"/>
              </a:rPr>
              <a:t>0x99</a:t>
            </a:r>
          </a:p>
        </p:txBody>
      </p:sp>
      <p:cxnSp>
        <p:nvCxnSpPr>
          <p:cNvPr id="18" name="Connector 17"/>
          <p:cNvCxnSpPr/>
          <p:nvPr/>
        </p:nvCxnSpPr>
        <p:spPr>
          <a:xfrm>
            <a:off x="2423160" y="4041648"/>
            <a:ext cx="8412480" cy="0"/>
          </a:xfrm>
          <a:prstGeom prst="line">
            <a:avLst/>
          </a:prstGeom>
          <a:ln w="25400">
            <a:solidFill>
              <a:srgbClr val="D8DFD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96112" y="5486400"/>
            <a:ext cx="10241280" cy="411480"/>
          </a:xfrm>
          <a:prstGeom prst="rect">
            <a:avLst/>
          </a:prstGeom>
          <a:noFill/>
        </p:spPr>
        <p:txBody>
          <a:bodyPr wrap="none" lIns="13716" rIns="13716" tIns="13716" bIns="13716">
            <a:spAutoFit/>
          </a:bodyPr>
          <a:lstStyle/>
          <a:p>
            <a:pPr>
              <a:lnSpc>
                <a:spcPct val="116000"/>
              </a:lnSpc>
              <a:spcBef>
                <a:spcPts val="0"/>
              </a:spcBef>
              <a:spcAft>
                <a:spcPts val="400"/>
              </a:spcAft>
            </a:pPr>
            <a:r>
              <a:rPr sz="2400" b="0" lang="ja-JP">
                <a:solidFill>
                  <a:srgbClr val="183244"/>
                </a:solidFill>
                <a:latin typeface="Noto Sans CJK JP"/>
                <a:ea typeface="Noto Sans CJK JP"/>
              </a:rPr>
              <a:t>C++ の ^ と、AVR の eor は、どちらもこの XOR を表します。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4 / 変更例① AddRoundKey</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C++ の1行を、4つの命令にする</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X は state の現在位置、Z は選んだラウンド鍵の現在位置を指す前提です。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原本:111 / measurement.S:309–312（ポインタ初期化・ループ部分を除いた抜粋）</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07</a:t>
            </a:r>
          </a:p>
        </p:txBody>
      </p:sp>
      <p:sp>
        <p:nvSpPr>
          <p:cNvPr id="9" name="Rounded Rectangle 8"/>
          <p:cNvSpPr/>
          <p:nvPr/>
        </p:nvSpPr>
        <p:spPr>
          <a:xfrm>
            <a:off x="804672" y="2532888"/>
            <a:ext cx="10561320" cy="992124"/>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42616"/>
            <a:ext cx="10158984" cy="256032"/>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8FBCB7"/>
                </a:solidFill>
                <a:latin typeface="Noto Sans CJK JP"/>
                <a:ea typeface="Noto Sans CJK JP"/>
              </a:rPr>
              <a:t>変更前 / C++</a:t>
            </a:r>
          </a:p>
        </p:txBody>
      </p:sp>
      <p:sp>
        <p:nvSpPr>
          <p:cNvPr id="11" name="TextBox 10"/>
          <p:cNvSpPr txBox="1"/>
          <p:nvPr/>
        </p:nvSpPr>
        <p:spPr>
          <a:xfrm>
            <a:off x="1014984" y="3035808"/>
            <a:ext cx="10140696" cy="377952"/>
          </a:xfrm>
          <a:prstGeom prst="rect">
            <a:avLst/>
          </a:prstGeom>
          <a:noFill/>
        </p:spPr>
        <p:txBody>
          <a:bodyPr wrap="none" lIns="13716" rIns="13716" tIns="13716" bIns="13716">
            <a:spAutoFit/>
          </a:bodyPr>
          <a:lstStyle/>
          <a:p>
            <a:pPr>
              <a:lnSpc>
                <a:spcPct val="116000"/>
              </a:lnSpc>
              <a:spcBef>
                <a:spcPts val="0"/>
              </a:spcBef>
              <a:spcAft>
                <a:spcPts val="400"/>
              </a:spcAft>
            </a:pPr>
            <a:r>
              <a:rPr sz="2400" b="0" lang="ja-JP">
                <a:solidFill>
                  <a:srgbClr val="EAF3F1"/>
                </a:solidFill>
                <a:latin typeface="DejaVu Sans Mono"/>
                <a:ea typeface="Noto Sans CJK JP"/>
              </a:rPr>
              <a:t>state[i] ^= round_keys[round][i];</a:t>
            </a:r>
          </a:p>
        </p:txBody>
      </p:sp>
      <p:sp>
        <p:nvSpPr>
          <p:cNvPr id="12" name="Rounded Rectangle 11"/>
          <p:cNvSpPr/>
          <p:nvPr/>
        </p:nvSpPr>
        <p:spPr>
          <a:xfrm>
            <a:off x="822960" y="3749039"/>
            <a:ext cx="3977639" cy="438912"/>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794759"/>
            <a:ext cx="3566160" cy="320040"/>
          </a:xfrm>
          <a:prstGeom prst="rect">
            <a:avLst/>
          </a:prstGeom>
          <a:noFill/>
        </p:spPr>
        <p:txBody>
          <a:bodyPr wrap="none" lIns="13716" rIns="13716" tIns="13716" bIns="13716">
            <a:spAutoFit/>
          </a:bodyPr>
          <a:lstStyle/>
          <a:p>
            <a:pPr>
              <a:lnSpc>
                <a:spcPct val="116000"/>
              </a:lnSpc>
              <a:spcBef>
                <a:spcPts val="0"/>
              </a:spcBef>
              <a:spcAft>
                <a:spcPts val="400"/>
              </a:spcAft>
            </a:pPr>
            <a:r>
              <a:rPr sz="2200" b="0" lang="ja-JP">
                <a:solidFill>
                  <a:srgbClr val="EAF3F1"/>
                </a:solidFill>
                <a:latin typeface="DejaVu Sans Mono"/>
                <a:ea typeface="Noto Sans CJK JP"/>
              </a:rPr>
              <a:t>ld  r18, X</a:t>
            </a:r>
          </a:p>
        </p:txBody>
      </p:sp>
      <p:sp>
        <p:nvSpPr>
          <p:cNvPr id="14" name="TextBox 13"/>
          <p:cNvSpPr txBox="1"/>
          <p:nvPr/>
        </p:nvSpPr>
        <p:spPr>
          <a:xfrm>
            <a:off x="5212080" y="3785615"/>
            <a:ext cx="6126480" cy="365760"/>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183244"/>
                </a:solidFill>
                <a:latin typeface="Noto Sans CJK JP"/>
                <a:ea typeface="Noto Sans CJK JP"/>
              </a:rPr>
              <a:t>① state の1バイトを読む</a:t>
            </a:r>
          </a:p>
        </p:txBody>
      </p:sp>
      <p:sp>
        <p:nvSpPr>
          <p:cNvPr id="15" name="Rounded Rectangle 14"/>
          <p:cNvSpPr/>
          <p:nvPr/>
        </p:nvSpPr>
        <p:spPr>
          <a:xfrm>
            <a:off x="822960" y="4270248"/>
            <a:ext cx="3977639" cy="438912"/>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315968"/>
            <a:ext cx="3566160" cy="320040"/>
          </a:xfrm>
          <a:prstGeom prst="rect">
            <a:avLst/>
          </a:prstGeom>
          <a:noFill/>
        </p:spPr>
        <p:txBody>
          <a:bodyPr wrap="none" lIns="13716" rIns="13716" tIns="13716" bIns="13716">
            <a:spAutoFit/>
          </a:bodyPr>
          <a:lstStyle/>
          <a:p>
            <a:pPr>
              <a:lnSpc>
                <a:spcPct val="116000"/>
              </a:lnSpc>
              <a:spcBef>
                <a:spcPts val="0"/>
              </a:spcBef>
              <a:spcAft>
                <a:spcPts val="400"/>
              </a:spcAft>
            </a:pPr>
            <a:r>
              <a:rPr sz="2200" b="0" lang="ja-JP">
                <a:solidFill>
                  <a:srgbClr val="EAF3F1"/>
                </a:solidFill>
                <a:latin typeface="DejaVu Sans Mono"/>
                <a:ea typeface="Noto Sans CJK JP"/>
              </a:rPr>
              <a:t>ld  r19, Z+</a:t>
            </a:r>
          </a:p>
        </p:txBody>
      </p:sp>
      <p:sp>
        <p:nvSpPr>
          <p:cNvPr id="17" name="TextBox 16"/>
          <p:cNvSpPr txBox="1"/>
          <p:nvPr/>
        </p:nvSpPr>
        <p:spPr>
          <a:xfrm>
            <a:off x="5212080" y="4306824"/>
            <a:ext cx="6126480" cy="365760"/>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183244"/>
                </a:solidFill>
                <a:latin typeface="Noto Sans CJK JP"/>
                <a:ea typeface="Noto Sans CJK JP"/>
              </a:rPr>
              <a:t>② 鍵の1バイトを読む</a:t>
            </a:r>
          </a:p>
        </p:txBody>
      </p:sp>
      <p:sp>
        <p:nvSpPr>
          <p:cNvPr id="18" name="Rounded Rectangle 17"/>
          <p:cNvSpPr/>
          <p:nvPr/>
        </p:nvSpPr>
        <p:spPr>
          <a:xfrm>
            <a:off x="822960" y="4791455"/>
            <a:ext cx="3977639" cy="438912"/>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4837175"/>
            <a:ext cx="3566160" cy="320040"/>
          </a:xfrm>
          <a:prstGeom prst="rect">
            <a:avLst/>
          </a:prstGeom>
          <a:noFill/>
        </p:spPr>
        <p:txBody>
          <a:bodyPr wrap="none" lIns="13716" rIns="13716" tIns="13716" bIns="13716">
            <a:spAutoFit/>
          </a:bodyPr>
          <a:lstStyle/>
          <a:p>
            <a:pPr>
              <a:lnSpc>
                <a:spcPct val="116000"/>
              </a:lnSpc>
              <a:spcBef>
                <a:spcPts val="0"/>
              </a:spcBef>
              <a:spcAft>
                <a:spcPts val="400"/>
              </a:spcAft>
            </a:pPr>
            <a:r>
              <a:rPr sz="2200" b="0" lang="ja-JP">
                <a:solidFill>
                  <a:srgbClr val="EAF3F1"/>
                </a:solidFill>
                <a:latin typeface="DejaVu Sans Mono"/>
                <a:ea typeface="Noto Sans CJK JP"/>
              </a:rPr>
              <a:t>eor r18, r19</a:t>
            </a:r>
          </a:p>
        </p:txBody>
      </p:sp>
      <p:sp>
        <p:nvSpPr>
          <p:cNvPr id="20" name="TextBox 19"/>
          <p:cNvSpPr txBox="1"/>
          <p:nvPr/>
        </p:nvSpPr>
        <p:spPr>
          <a:xfrm>
            <a:off x="5212080" y="4828031"/>
            <a:ext cx="6126480" cy="365760"/>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③ XOR を計算する</a:t>
            </a:r>
          </a:p>
        </p:txBody>
      </p:sp>
      <p:sp>
        <p:nvSpPr>
          <p:cNvPr id="21" name="Rounded Rectangle 20"/>
          <p:cNvSpPr/>
          <p:nvPr/>
        </p:nvSpPr>
        <p:spPr>
          <a:xfrm>
            <a:off x="822960" y="5312664"/>
            <a:ext cx="3977639" cy="438912"/>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5358383"/>
            <a:ext cx="3566160" cy="320040"/>
          </a:xfrm>
          <a:prstGeom prst="rect">
            <a:avLst/>
          </a:prstGeom>
          <a:noFill/>
        </p:spPr>
        <p:txBody>
          <a:bodyPr wrap="none" lIns="13716" rIns="13716" tIns="13716" bIns="13716">
            <a:spAutoFit/>
          </a:bodyPr>
          <a:lstStyle/>
          <a:p>
            <a:pPr>
              <a:lnSpc>
                <a:spcPct val="116000"/>
              </a:lnSpc>
              <a:spcBef>
                <a:spcPts val="0"/>
              </a:spcBef>
              <a:spcAft>
                <a:spcPts val="400"/>
              </a:spcAft>
            </a:pPr>
            <a:r>
              <a:rPr sz="2200" b="0" lang="ja-JP">
                <a:solidFill>
                  <a:srgbClr val="EAF3F1"/>
                </a:solidFill>
                <a:latin typeface="DejaVu Sans Mono"/>
                <a:ea typeface="Noto Sans CJK JP"/>
              </a:rPr>
              <a:t>st  X+, r18</a:t>
            </a:r>
          </a:p>
        </p:txBody>
      </p:sp>
      <p:sp>
        <p:nvSpPr>
          <p:cNvPr id="23" name="TextBox 22"/>
          <p:cNvSpPr txBox="1"/>
          <p:nvPr/>
        </p:nvSpPr>
        <p:spPr>
          <a:xfrm>
            <a:off x="5212080" y="5349240"/>
            <a:ext cx="6126480" cy="365760"/>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183244"/>
                </a:solidFill>
                <a:latin typeface="Noto Sans CJK JP"/>
                <a:ea typeface="Noto Sans CJK JP"/>
              </a:rPr>
              <a:t>④ 同じ state の位置へ書き戻す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4 / 住所とデータの動きを追う</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X+ の「+」は、処理した後に住所を1進める</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実際の最初の平文と初期鍵を、1バイトだけ追ってみます。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Arduino Uno / ATmega328P  |  AES measurement → AVR assembly</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08</a:t>
            </a:r>
          </a:p>
        </p:txBody>
      </p:sp>
      <p:sp>
        <p:nvSpPr>
          <p:cNvPr id="9" name="Rounded Rectangle 8"/>
          <p:cNvSpPr/>
          <p:nvPr/>
        </p:nvSpPr>
        <p:spPr>
          <a:xfrm>
            <a:off x="822960" y="2560320"/>
            <a:ext cx="2880360" cy="16459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560320"/>
            <a:ext cx="54864" cy="164592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688336"/>
            <a:ext cx="253288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SRAM のデータ</a:t>
            </a:r>
          </a:p>
        </p:txBody>
      </p:sp>
      <p:sp>
        <p:nvSpPr>
          <p:cNvPr id="12" name="TextBox 11"/>
          <p:cNvSpPr txBox="1"/>
          <p:nvPr/>
        </p:nvSpPr>
        <p:spPr>
          <a:xfrm>
            <a:off x="1005840" y="3182112"/>
            <a:ext cx="2532888" cy="987552"/>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state[0] = 0x7A</a:t>
            </a:r>
          </a:p>
          <a:p>
            <a:pPr>
              <a:lnSpc>
                <a:spcPct val="116000"/>
              </a:lnSpc>
              <a:spcBef>
                <a:spcPts val="0"/>
              </a:spcBef>
              <a:spcAft>
                <a:spcPts val="400"/>
              </a:spcAft>
            </a:pPr>
            <a:r>
              <a:rPr sz="2000" b="0" lang="ja-JP">
                <a:solidFill>
                  <a:srgbClr val="183244"/>
                </a:solidFill>
                <a:latin typeface="Noto Sans CJK JP"/>
                <a:ea typeface="Noto Sans CJK JP"/>
              </a:rPr>
              <a:t>鍵[0]    = 0x2B</a:t>
            </a:r>
          </a:p>
        </p:txBody>
      </p:sp>
      <p:sp>
        <p:nvSpPr>
          <p:cNvPr id="13" name="Right Arrow 12"/>
          <p:cNvSpPr/>
          <p:nvPr/>
        </p:nvSpPr>
        <p:spPr>
          <a:xfrm>
            <a:off x="3858768" y="3200400"/>
            <a:ext cx="502920" cy="274320"/>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26280" y="2560320"/>
            <a:ext cx="2926080" cy="164592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26280" y="2560320"/>
            <a:ext cx="54864" cy="164592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2688336"/>
            <a:ext cx="257860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CPU の作業場所</a:t>
            </a:r>
          </a:p>
        </p:txBody>
      </p:sp>
      <p:sp>
        <p:nvSpPr>
          <p:cNvPr id="17" name="TextBox 16"/>
          <p:cNvSpPr txBox="1"/>
          <p:nvPr/>
        </p:nvSpPr>
        <p:spPr>
          <a:xfrm>
            <a:off x="4709160" y="3182112"/>
            <a:ext cx="2578608" cy="987552"/>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r18 = 0x7A</a:t>
            </a:r>
          </a:p>
          <a:p>
            <a:pPr>
              <a:lnSpc>
                <a:spcPct val="116000"/>
              </a:lnSpc>
              <a:spcBef>
                <a:spcPts val="0"/>
              </a:spcBef>
              <a:spcAft>
                <a:spcPts val="400"/>
              </a:spcAft>
            </a:pPr>
            <a:r>
              <a:rPr sz="2000" b="0" lang="ja-JP">
                <a:solidFill>
                  <a:srgbClr val="183244"/>
                </a:solidFill>
                <a:latin typeface="Noto Sans CJK JP"/>
                <a:ea typeface="Noto Sans CJK JP"/>
              </a:rPr>
              <a:t>r19 = 0x2B</a:t>
            </a:r>
          </a:p>
        </p:txBody>
      </p:sp>
      <p:sp>
        <p:nvSpPr>
          <p:cNvPr id="18" name="Right Arrow 17"/>
          <p:cNvSpPr/>
          <p:nvPr/>
        </p:nvSpPr>
        <p:spPr>
          <a:xfrm>
            <a:off x="7626096" y="3200400"/>
            <a:ext cx="502920" cy="274320"/>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84464" y="2560320"/>
            <a:ext cx="3136392" cy="16459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84464" y="2560320"/>
            <a:ext cx="54864" cy="164592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67344" y="2688336"/>
            <a:ext cx="2788920"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XOR の結果</a:t>
            </a:r>
          </a:p>
        </p:txBody>
      </p:sp>
      <p:sp>
        <p:nvSpPr>
          <p:cNvPr id="22" name="TextBox 21"/>
          <p:cNvSpPr txBox="1"/>
          <p:nvPr/>
        </p:nvSpPr>
        <p:spPr>
          <a:xfrm>
            <a:off x="8467344" y="3182112"/>
            <a:ext cx="2788920" cy="987552"/>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r18 = 0x51</a:t>
            </a:r>
          </a:p>
        </p:txBody>
      </p:sp>
      <p:sp>
        <p:nvSpPr>
          <p:cNvPr id="23" name="Rounded Rectangle 22"/>
          <p:cNvSpPr/>
          <p:nvPr/>
        </p:nvSpPr>
        <p:spPr>
          <a:xfrm>
            <a:off x="859536" y="4572000"/>
            <a:ext cx="3886200" cy="703326"/>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 y="4754880"/>
            <a:ext cx="3465576" cy="409448"/>
          </a:xfrm>
          <a:prstGeom prst="rect">
            <a:avLst/>
          </a:prstGeom>
          <a:noFill/>
        </p:spPr>
        <p:txBody>
          <a:bodyPr wrap="none" lIns="13716" rIns="13716" tIns="13716" bIns="13716">
            <a:spAutoFit/>
          </a:bodyPr>
          <a:lstStyle/>
          <a:p>
            <a:pPr>
              <a:lnSpc>
                <a:spcPct val="116000"/>
              </a:lnSpc>
              <a:spcBef>
                <a:spcPts val="0"/>
              </a:spcBef>
              <a:spcAft>
                <a:spcPts val="400"/>
              </a:spcAft>
            </a:pPr>
            <a:r>
              <a:rPr sz="2600" b="0" lang="ja-JP">
                <a:solidFill>
                  <a:srgbClr val="EAF3F1"/>
                </a:solidFill>
                <a:latin typeface="DejaVu Sans Mono"/>
                <a:ea typeface="Noto Sans CJK JP"/>
              </a:rPr>
              <a:t>st X+, r18</a:t>
            </a:r>
          </a:p>
        </p:txBody>
      </p:sp>
      <p:sp>
        <p:nvSpPr>
          <p:cNvPr id="25" name="TextBox 24"/>
          <p:cNvSpPr txBox="1"/>
          <p:nvPr/>
        </p:nvSpPr>
        <p:spPr>
          <a:xfrm>
            <a:off x="5120640" y="4590288"/>
            <a:ext cx="6309360" cy="1005840"/>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183244"/>
                </a:solidFill>
                <a:latin typeface="Noto Sans CJK JP"/>
                <a:ea typeface="Noto Sans CJK JP"/>
              </a:rPr>
              <a:t>state[0] に 0x51 を保存</a:t>
            </a:r>
          </a:p>
          <a:p>
            <a:pPr>
              <a:lnSpc>
                <a:spcPct val="116000"/>
              </a:lnSpc>
              <a:spcBef>
                <a:spcPts val="0"/>
              </a:spcBef>
              <a:spcAft>
                <a:spcPts val="400"/>
              </a:spcAft>
            </a:pPr>
            <a:r>
              <a:rPr sz="2300" b="0" lang="ja-JP">
                <a:solidFill>
                  <a:srgbClr val="183244"/>
                </a:solidFill>
                <a:latin typeface="Noto Sans CJK JP"/>
                <a:ea typeface="Noto Sans CJK JP"/>
              </a:rPr>
              <a:t>その後、X は state[1] を指す</a:t>
            </a:r>
          </a:p>
        </p:txBody>
      </p:sp>
      <p:sp>
        <p:nvSpPr>
          <p:cNvPr id="26" name="TextBox 25"/>
          <p:cNvSpPr txBox="1"/>
          <p:nvPr/>
        </p:nvSpPr>
        <p:spPr>
          <a:xfrm>
            <a:off x="896112" y="5788152"/>
            <a:ext cx="10424160" cy="292608"/>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61727D"/>
                </a:solidFill>
                <a:latin typeface="Noto Sans CJK JP"/>
                <a:ea typeface="Noto Sans CJK JP"/>
              </a:rPr>
              <a:t>0x51 は初期 XOR の途中結果です。第1ラウンド終了後の先頭バイトは 0x1C です。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4 / 変更例② for ループ</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繰り返しは「回数を減らし、戻る」で作る</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AddRoundKey は、このループで state の16バイトを処理します。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measurement.S:308–315 / 1b は「直前にあるラベル1へ戻る」</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09</a:t>
            </a:r>
          </a:p>
        </p:txBody>
      </p:sp>
      <p:sp>
        <p:nvSpPr>
          <p:cNvPr id="9" name="Rounded Rectangle 8"/>
          <p:cNvSpPr/>
          <p:nvPr/>
        </p:nvSpPr>
        <p:spPr>
          <a:xfrm>
            <a:off x="822960" y="2560320"/>
            <a:ext cx="4983480" cy="3269361"/>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670048"/>
            <a:ext cx="4581144" cy="256032"/>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8FBCB7"/>
                </a:solidFill>
                <a:latin typeface="Noto Sans CJK JP"/>
                <a:ea typeface="Noto Sans CJK JP"/>
              </a:rPr>
              <a:t>実際のコードから抜粋</a:t>
            </a:r>
          </a:p>
        </p:txBody>
      </p:sp>
      <p:sp>
        <p:nvSpPr>
          <p:cNvPr id="11" name="TextBox 10"/>
          <p:cNvSpPr txBox="1"/>
          <p:nvPr/>
        </p:nvSpPr>
        <p:spPr>
          <a:xfrm>
            <a:off x="1033272" y="3063239"/>
            <a:ext cx="4562856"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    ldi r20, 16</a:t>
            </a:r>
          </a:p>
        </p:txBody>
      </p:sp>
      <p:sp>
        <p:nvSpPr>
          <p:cNvPr id="12" name="TextBox 11"/>
          <p:cNvSpPr txBox="1"/>
          <p:nvPr/>
        </p:nvSpPr>
        <p:spPr>
          <a:xfrm>
            <a:off x="1033272" y="3445382"/>
            <a:ext cx="4562856"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1:  ld  r18, X</a:t>
            </a:r>
          </a:p>
        </p:txBody>
      </p:sp>
      <p:sp>
        <p:nvSpPr>
          <p:cNvPr id="13" name="TextBox 12"/>
          <p:cNvSpPr txBox="1"/>
          <p:nvPr/>
        </p:nvSpPr>
        <p:spPr>
          <a:xfrm>
            <a:off x="1033272" y="3827525"/>
            <a:ext cx="4562856"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    ld  r19, Z+</a:t>
            </a:r>
          </a:p>
        </p:txBody>
      </p:sp>
      <p:sp>
        <p:nvSpPr>
          <p:cNvPr id="14" name="TextBox 13"/>
          <p:cNvSpPr txBox="1"/>
          <p:nvPr/>
        </p:nvSpPr>
        <p:spPr>
          <a:xfrm>
            <a:off x="1033272" y="4209669"/>
            <a:ext cx="4562856"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    eor r18, r19</a:t>
            </a:r>
          </a:p>
        </p:txBody>
      </p:sp>
      <p:sp>
        <p:nvSpPr>
          <p:cNvPr id="15" name="TextBox 14"/>
          <p:cNvSpPr txBox="1"/>
          <p:nvPr/>
        </p:nvSpPr>
        <p:spPr>
          <a:xfrm>
            <a:off x="1033272" y="4591812"/>
            <a:ext cx="4562856"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    st  X+, r18</a:t>
            </a:r>
          </a:p>
        </p:txBody>
      </p:sp>
      <p:sp>
        <p:nvSpPr>
          <p:cNvPr id="16" name="TextBox 15"/>
          <p:cNvSpPr txBox="1"/>
          <p:nvPr/>
        </p:nvSpPr>
        <p:spPr>
          <a:xfrm>
            <a:off x="1033272" y="4973955"/>
            <a:ext cx="4562856"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    dec r20</a:t>
            </a:r>
          </a:p>
        </p:txBody>
      </p:sp>
      <p:sp>
        <p:nvSpPr>
          <p:cNvPr id="17" name="TextBox 16"/>
          <p:cNvSpPr txBox="1"/>
          <p:nvPr/>
        </p:nvSpPr>
        <p:spPr>
          <a:xfrm>
            <a:off x="1033272" y="5356098"/>
            <a:ext cx="4562856"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    brne 1b</a:t>
            </a:r>
          </a:p>
        </p:txBody>
      </p:sp>
      <p:sp>
        <p:nvSpPr>
          <p:cNvPr id="18" name="Rounded Rectangle 17"/>
          <p:cNvSpPr/>
          <p:nvPr/>
        </p:nvSpPr>
        <p:spPr>
          <a:xfrm>
            <a:off x="6236208" y="2596896"/>
            <a:ext cx="5093208" cy="91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2596896"/>
            <a:ext cx="54864" cy="914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2688336"/>
            <a:ext cx="4745736" cy="384048"/>
          </a:xfrm>
          <a:prstGeom prst="rect">
            <a:avLst/>
          </a:prstGeom>
          <a:noFill/>
        </p:spPr>
        <p:txBody>
          <a:bodyPr wrap="none" lIns="13716" rIns="13716" tIns="13716" bIns="13716">
            <a:spAutoFit/>
          </a:bodyPr>
          <a:lstStyle/>
          <a:p>
            <a:pPr>
              <a:lnSpc>
                <a:spcPct val="116000"/>
              </a:lnSpc>
              <a:spcBef>
                <a:spcPts val="0"/>
              </a:spcBef>
              <a:spcAft>
                <a:spcPts val="400"/>
              </a:spcAft>
            </a:pPr>
            <a:r>
              <a:rPr sz="2100" b="1" lang="ja-JP">
                <a:solidFill>
                  <a:srgbClr val="007F78"/>
                </a:solidFill>
                <a:latin typeface="Noto Sans CJK JP"/>
                <a:ea typeface="Noto Sans CJK JP"/>
              </a:rPr>
              <a:t>ldi r20, 16</a:t>
            </a:r>
          </a:p>
        </p:txBody>
      </p:sp>
      <p:sp>
        <p:nvSpPr>
          <p:cNvPr id="21" name="TextBox 20"/>
          <p:cNvSpPr txBox="1"/>
          <p:nvPr/>
        </p:nvSpPr>
        <p:spPr>
          <a:xfrm>
            <a:off x="6419088" y="3081528"/>
            <a:ext cx="4745736" cy="393192"/>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183244"/>
                </a:solidFill>
                <a:latin typeface="Noto Sans CJK JP"/>
                <a:ea typeface="Noto Sans CJK JP"/>
              </a:rPr>
              <a:t>残り回数を16にする</a:t>
            </a:r>
          </a:p>
        </p:txBody>
      </p:sp>
      <p:sp>
        <p:nvSpPr>
          <p:cNvPr id="22" name="Rounded Rectangle 21"/>
          <p:cNvSpPr/>
          <p:nvPr/>
        </p:nvSpPr>
        <p:spPr>
          <a:xfrm>
            <a:off x="6236208" y="3675887"/>
            <a:ext cx="5093208" cy="91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3675887"/>
            <a:ext cx="54864" cy="914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767327"/>
            <a:ext cx="4745736" cy="384048"/>
          </a:xfrm>
          <a:prstGeom prst="rect">
            <a:avLst/>
          </a:prstGeom>
          <a:noFill/>
        </p:spPr>
        <p:txBody>
          <a:bodyPr wrap="none" lIns="13716" rIns="13716" tIns="13716" bIns="13716">
            <a:spAutoFit/>
          </a:bodyPr>
          <a:lstStyle/>
          <a:p>
            <a:pPr>
              <a:lnSpc>
                <a:spcPct val="116000"/>
              </a:lnSpc>
              <a:spcBef>
                <a:spcPts val="0"/>
              </a:spcBef>
              <a:spcAft>
                <a:spcPts val="400"/>
              </a:spcAft>
            </a:pPr>
            <a:r>
              <a:rPr sz="2100" b="1" lang="ja-JP">
                <a:solidFill>
                  <a:srgbClr val="007F78"/>
                </a:solidFill>
                <a:latin typeface="Noto Sans CJK JP"/>
                <a:ea typeface="Noto Sans CJK JP"/>
              </a:rPr>
              <a:t>dec r20</a:t>
            </a:r>
          </a:p>
        </p:txBody>
      </p:sp>
      <p:sp>
        <p:nvSpPr>
          <p:cNvPr id="25" name="TextBox 24"/>
          <p:cNvSpPr txBox="1"/>
          <p:nvPr/>
        </p:nvSpPr>
        <p:spPr>
          <a:xfrm>
            <a:off x="6419088" y="4160520"/>
            <a:ext cx="4745736" cy="393192"/>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183244"/>
                </a:solidFill>
                <a:latin typeface="Noto Sans CJK JP"/>
                <a:ea typeface="Noto Sans CJK JP"/>
              </a:rPr>
              <a:t>残り回数を1減らす</a:t>
            </a:r>
          </a:p>
        </p:txBody>
      </p:sp>
      <p:sp>
        <p:nvSpPr>
          <p:cNvPr id="26" name="Rounded Rectangle 25"/>
          <p:cNvSpPr/>
          <p:nvPr/>
        </p:nvSpPr>
        <p:spPr>
          <a:xfrm>
            <a:off x="6236208" y="4754880"/>
            <a:ext cx="5093208" cy="91440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6208" y="4754880"/>
            <a:ext cx="54864" cy="914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4846320"/>
            <a:ext cx="4745736" cy="384048"/>
          </a:xfrm>
          <a:prstGeom prst="rect">
            <a:avLst/>
          </a:prstGeom>
          <a:noFill/>
        </p:spPr>
        <p:txBody>
          <a:bodyPr wrap="none" lIns="13716" rIns="13716" tIns="13716" bIns="13716">
            <a:spAutoFit/>
          </a:bodyPr>
          <a:lstStyle/>
          <a:p>
            <a:pPr>
              <a:lnSpc>
                <a:spcPct val="116000"/>
              </a:lnSpc>
              <a:spcBef>
                <a:spcPts val="0"/>
              </a:spcBef>
              <a:spcAft>
                <a:spcPts val="400"/>
              </a:spcAft>
            </a:pPr>
            <a:r>
              <a:rPr sz="2100" b="1" lang="ja-JP">
                <a:solidFill>
                  <a:srgbClr val="007F78"/>
                </a:solidFill>
                <a:latin typeface="Noto Sans CJK JP"/>
                <a:ea typeface="Noto Sans CJK JP"/>
              </a:rPr>
              <a:t>brne 1b</a:t>
            </a:r>
          </a:p>
        </p:txBody>
      </p:sp>
      <p:sp>
        <p:nvSpPr>
          <p:cNvPr id="29" name="TextBox 28"/>
          <p:cNvSpPr txBox="1"/>
          <p:nvPr/>
        </p:nvSpPr>
        <p:spPr>
          <a:xfrm>
            <a:off x="6419088" y="5239512"/>
            <a:ext cx="4745736" cy="393192"/>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183244"/>
                </a:solidFill>
                <a:latin typeface="Noto Sans CJK JP"/>
                <a:ea typeface="Noto Sans CJK JP"/>
              </a:rPr>
              <a:t>0でなければ、ラベル1に戻る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4 / 変更例③ SubBytes</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S-Box は、フラッシュから1バイト読む</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S-Box は「入力値に対応する値を引く、256個の対応表」です。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原本:59–62 / measurement.S:323–329</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10</a:t>
            </a:r>
          </a:p>
        </p:txBody>
      </p:sp>
      <p:sp>
        <p:nvSpPr>
          <p:cNvPr id="9" name="Rounded Rectangle 8"/>
          <p:cNvSpPr/>
          <p:nvPr/>
        </p:nvSpPr>
        <p:spPr>
          <a:xfrm>
            <a:off x="822960" y="2560320"/>
            <a:ext cx="4709160" cy="12344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560320"/>
            <a:ext cx="54864" cy="123444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688336"/>
            <a:ext cx="436168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変更前：pgm_read_byte(...)</a:t>
            </a:r>
          </a:p>
        </p:txBody>
      </p:sp>
      <p:sp>
        <p:nvSpPr>
          <p:cNvPr id="12" name="TextBox 11"/>
          <p:cNvSpPr txBox="1"/>
          <p:nvPr/>
        </p:nvSpPr>
        <p:spPr>
          <a:xfrm>
            <a:off x="1005840" y="3182112"/>
            <a:ext cx="4361688" cy="576072"/>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C++ の関数形式で対応表を参照</a:t>
            </a:r>
          </a:p>
        </p:txBody>
      </p:sp>
      <p:sp>
        <p:nvSpPr>
          <p:cNvPr id="13" name="Rounded Rectangle 12"/>
          <p:cNvSpPr/>
          <p:nvPr/>
        </p:nvSpPr>
        <p:spPr>
          <a:xfrm>
            <a:off x="822960" y="4041648"/>
            <a:ext cx="4709160" cy="123444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4041648"/>
            <a:ext cx="54864" cy="123444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169663"/>
            <a:ext cx="436168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変更後：lpm r19, Z</a:t>
            </a:r>
          </a:p>
        </p:txBody>
      </p:sp>
      <p:sp>
        <p:nvSpPr>
          <p:cNvPr id="16" name="TextBox 15"/>
          <p:cNvSpPr txBox="1"/>
          <p:nvPr/>
        </p:nvSpPr>
        <p:spPr>
          <a:xfrm>
            <a:off x="1005840" y="4663440"/>
            <a:ext cx="4361688" cy="576072"/>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Z の指すフラッシュを読む命令</a:t>
            </a:r>
          </a:p>
        </p:txBody>
      </p:sp>
      <p:sp>
        <p:nvSpPr>
          <p:cNvPr id="17" name="Rounded Rectangle 16"/>
          <p:cNvSpPr/>
          <p:nvPr/>
        </p:nvSpPr>
        <p:spPr>
          <a:xfrm>
            <a:off x="5897880" y="2560320"/>
            <a:ext cx="5449824" cy="2941320"/>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8" y="2670048"/>
            <a:ext cx="5047488" cy="256032"/>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8FBCB7"/>
                </a:solidFill>
                <a:latin typeface="Noto Sans CJK JP"/>
                <a:ea typeface="Noto Sans CJK JP"/>
              </a:rPr>
              <a:t>実際のコード / 1バイト分</a:t>
            </a:r>
          </a:p>
        </p:txBody>
      </p:sp>
      <p:sp>
        <p:nvSpPr>
          <p:cNvPr id="19" name="TextBox 18"/>
          <p:cNvSpPr txBox="1"/>
          <p:nvPr/>
        </p:nvSpPr>
        <p:spPr>
          <a:xfrm>
            <a:off x="6108192" y="3063239"/>
            <a:ext cx="5029200" cy="31496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EAF3F1"/>
                </a:solidFill>
                <a:latin typeface="DejaVu Sans Mono"/>
                <a:ea typeface="Noto Sans CJK JP"/>
              </a:rPr>
              <a:t>ld  r18, X</a:t>
            </a:r>
          </a:p>
        </p:txBody>
      </p:sp>
      <p:sp>
        <p:nvSpPr>
          <p:cNvPr id="20" name="TextBox 19"/>
          <p:cNvSpPr txBox="1"/>
          <p:nvPr/>
        </p:nvSpPr>
        <p:spPr>
          <a:xfrm>
            <a:off x="6108192" y="3398519"/>
            <a:ext cx="5029200" cy="31496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EAF3F1"/>
                </a:solidFill>
                <a:latin typeface="DejaVu Sans Mono"/>
                <a:ea typeface="Noto Sans CJK JP"/>
              </a:rPr>
              <a:t>ldi r30, lo8(sbox_std)</a:t>
            </a:r>
          </a:p>
        </p:txBody>
      </p:sp>
      <p:sp>
        <p:nvSpPr>
          <p:cNvPr id="21" name="TextBox 20"/>
          <p:cNvSpPr txBox="1"/>
          <p:nvPr/>
        </p:nvSpPr>
        <p:spPr>
          <a:xfrm>
            <a:off x="6108192" y="3733799"/>
            <a:ext cx="5029200" cy="31496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EAF3F1"/>
                </a:solidFill>
                <a:latin typeface="DejaVu Sans Mono"/>
                <a:ea typeface="Noto Sans CJK JP"/>
              </a:rPr>
              <a:t>ldi r31, hi8(sbox_std)</a:t>
            </a:r>
          </a:p>
        </p:txBody>
      </p:sp>
      <p:sp>
        <p:nvSpPr>
          <p:cNvPr id="22" name="TextBox 21"/>
          <p:cNvSpPr txBox="1"/>
          <p:nvPr/>
        </p:nvSpPr>
        <p:spPr>
          <a:xfrm>
            <a:off x="6108192" y="4069079"/>
            <a:ext cx="5029200" cy="31496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EAF3F1"/>
                </a:solidFill>
                <a:latin typeface="DejaVu Sans Mono"/>
                <a:ea typeface="Noto Sans CJK JP"/>
              </a:rPr>
              <a:t>add r30, r18</a:t>
            </a:r>
          </a:p>
        </p:txBody>
      </p:sp>
      <p:sp>
        <p:nvSpPr>
          <p:cNvPr id="23" name="TextBox 22"/>
          <p:cNvSpPr txBox="1"/>
          <p:nvPr/>
        </p:nvSpPr>
        <p:spPr>
          <a:xfrm>
            <a:off x="6108192" y="4404360"/>
            <a:ext cx="5029200" cy="31496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EAF3F1"/>
                </a:solidFill>
                <a:latin typeface="DejaVu Sans Mono"/>
                <a:ea typeface="Noto Sans CJK JP"/>
              </a:rPr>
              <a:t>adc r31, r1</a:t>
            </a:r>
          </a:p>
        </p:txBody>
      </p:sp>
      <p:sp>
        <p:nvSpPr>
          <p:cNvPr id="24" name="TextBox 23"/>
          <p:cNvSpPr txBox="1"/>
          <p:nvPr/>
        </p:nvSpPr>
        <p:spPr>
          <a:xfrm>
            <a:off x="6108192" y="4739640"/>
            <a:ext cx="5029200" cy="31496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EAF3F1"/>
                </a:solidFill>
                <a:latin typeface="DejaVu Sans Mono"/>
                <a:ea typeface="Noto Sans CJK JP"/>
              </a:rPr>
              <a:t>lpm r19, Z</a:t>
            </a:r>
          </a:p>
        </p:txBody>
      </p:sp>
      <p:sp>
        <p:nvSpPr>
          <p:cNvPr id="25" name="TextBox 24"/>
          <p:cNvSpPr txBox="1"/>
          <p:nvPr/>
        </p:nvSpPr>
        <p:spPr>
          <a:xfrm>
            <a:off x="6108192" y="5074920"/>
            <a:ext cx="5029200" cy="31496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EAF3F1"/>
                </a:solidFill>
                <a:latin typeface="DejaVu Sans Mono"/>
                <a:ea typeface="Noto Sans CJK JP"/>
              </a:rPr>
              <a:t>st  X+, r19</a:t>
            </a:r>
          </a:p>
        </p:txBody>
      </p:sp>
      <p:sp>
        <p:nvSpPr>
          <p:cNvPr id="26" name="TextBox 25"/>
          <p:cNvSpPr txBox="1"/>
          <p:nvPr/>
        </p:nvSpPr>
        <p:spPr>
          <a:xfrm>
            <a:off x="905256" y="5742432"/>
            <a:ext cx="10424160" cy="310896"/>
          </a:xfrm>
          <a:prstGeom prst="rect">
            <a:avLst/>
          </a:prstGeom>
          <a:noFill/>
        </p:spPr>
        <p:txBody>
          <a:bodyPr wrap="none" lIns="13716" rIns="13716" tIns="13716" bIns="13716">
            <a:spAutoFit/>
          </a:bodyPr>
          <a:lstStyle/>
          <a:p>
            <a:pPr>
              <a:lnSpc>
                <a:spcPct val="116000"/>
              </a:lnSpc>
              <a:spcBef>
                <a:spcPts val="0"/>
              </a:spcBef>
              <a:spcAft>
                <a:spcPts val="400"/>
              </a:spcAft>
            </a:pPr>
            <a:r>
              <a:rPr sz="2000" b="1" lang="ja-JP">
                <a:solidFill>
                  <a:srgbClr val="007F78"/>
                </a:solidFill>
                <a:latin typeface="Noto Sans CJK JP"/>
                <a:ea typeface="Noto Sans CJK JP"/>
              </a:rPr>
              <a:t>先頭アドレス ＋ 入力値 → 読む場所を決める → lpm で値を取り出す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4 / 変更例④ ShiftRows</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並べ替えは「一時保存 → 読む → 書く」</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例：行1の [state[1], state[5], state[9], state[13]] を左へ1つ回転。</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原本:69–73 / measurement.S:337–344</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11</a:t>
            </a:r>
          </a:p>
        </p:txBody>
      </p:sp>
      <p:sp>
        <p:nvSpPr>
          <p:cNvPr id="9" name="TextBox 8"/>
          <p:cNvSpPr txBox="1"/>
          <p:nvPr/>
        </p:nvSpPr>
        <p:spPr>
          <a:xfrm>
            <a:off x="896112" y="2752344"/>
            <a:ext cx="1554480" cy="457200"/>
          </a:xfrm>
          <a:prstGeom prst="rect">
            <a:avLst/>
          </a:prstGeom>
          <a:noFill/>
        </p:spPr>
        <p:txBody>
          <a:bodyPr wrap="none" lIns="13716" rIns="13716" tIns="13716" bIns="13716">
            <a:spAutoFit/>
          </a:bodyPr>
          <a:lstStyle/>
          <a:p>
            <a:pPr>
              <a:lnSpc>
                <a:spcPct val="116000"/>
              </a:lnSpc>
              <a:spcBef>
                <a:spcPts val="0"/>
              </a:spcBef>
              <a:spcAft>
                <a:spcPts val="400"/>
              </a:spcAft>
            </a:pPr>
            <a:r>
              <a:rPr sz="2400" b="1" lang="ja-JP">
                <a:solidFill>
                  <a:srgbClr val="007F78"/>
                </a:solidFill>
                <a:latin typeface="Noto Sans CJK JP"/>
                <a:ea typeface="Noto Sans CJK JP"/>
              </a:rPr>
              <a:t>変更前</a:t>
            </a:r>
          </a:p>
        </p:txBody>
      </p:sp>
      <p:sp>
        <p:nvSpPr>
          <p:cNvPr id="10" name="Rounded Rectangle 9"/>
          <p:cNvSpPr/>
          <p:nvPr/>
        </p:nvSpPr>
        <p:spPr>
          <a:xfrm>
            <a:off x="2834640" y="2606040"/>
            <a:ext cx="950976" cy="822960"/>
          </a:xfrm>
          <a:prstGeom prst="roundRect">
            <a:avLst>
              <a:gd name="adj" fmla="val 12000"/>
            </a:avLst>
          </a:prstGeom>
          <a:solidFill>
            <a:srgbClr val="F8E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0" y="2752344"/>
            <a:ext cx="950976" cy="502920"/>
          </a:xfrm>
          <a:prstGeom prst="rect">
            <a:avLst/>
          </a:prstGeom>
          <a:noFill/>
        </p:spPr>
        <p:txBody>
          <a:bodyPr wrap="none" lIns="13716" rIns="13716" tIns="13716" bIns="13716">
            <a:spAutoFit/>
          </a:bodyPr>
          <a:lstStyle/>
          <a:p>
            <a:pPr algn="ctr">
              <a:lnSpc>
                <a:spcPct val="116000"/>
              </a:lnSpc>
              <a:spcBef>
                <a:spcPts val="0"/>
              </a:spcBef>
              <a:spcAft>
                <a:spcPts val="400"/>
              </a:spcAft>
            </a:pPr>
            <a:r>
              <a:rPr sz="3000" b="1" lang="ja-JP">
                <a:solidFill>
                  <a:srgbClr val="183244"/>
                </a:solidFill>
                <a:latin typeface="Noto Sans CJK JP"/>
                <a:ea typeface="Noto Sans CJK JP"/>
              </a:rPr>
              <a:t>A</a:t>
            </a:r>
          </a:p>
        </p:txBody>
      </p:sp>
      <p:sp>
        <p:nvSpPr>
          <p:cNvPr id="12" name="Rounded Rectangle 11"/>
          <p:cNvSpPr/>
          <p:nvPr/>
        </p:nvSpPr>
        <p:spPr>
          <a:xfrm>
            <a:off x="4023360" y="2606040"/>
            <a:ext cx="950976" cy="82296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0" y="2752344"/>
            <a:ext cx="950976" cy="502920"/>
          </a:xfrm>
          <a:prstGeom prst="rect">
            <a:avLst/>
          </a:prstGeom>
          <a:noFill/>
        </p:spPr>
        <p:txBody>
          <a:bodyPr wrap="none" lIns="13716" rIns="13716" tIns="13716" bIns="13716">
            <a:spAutoFit/>
          </a:bodyPr>
          <a:lstStyle/>
          <a:p>
            <a:pPr algn="ctr">
              <a:lnSpc>
                <a:spcPct val="116000"/>
              </a:lnSpc>
              <a:spcBef>
                <a:spcPts val="0"/>
              </a:spcBef>
              <a:spcAft>
                <a:spcPts val="400"/>
              </a:spcAft>
            </a:pPr>
            <a:r>
              <a:rPr sz="3000" b="1" lang="ja-JP">
                <a:solidFill>
                  <a:srgbClr val="183244"/>
                </a:solidFill>
                <a:latin typeface="Noto Sans CJK JP"/>
                <a:ea typeface="Noto Sans CJK JP"/>
              </a:rPr>
              <a:t>B</a:t>
            </a:r>
          </a:p>
        </p:txBody>
      </p:sp>
      <p:sp>
        <p:nvSpPr>
          <p:cNvPr id="14" name="Rounded Rectangle 13"/>
          <p:cNvSpPr/>
          <p:nvPr/>
        </p:nvSpPr>
        <p:spPr>
          <a:xfrm>
            <a:off x="5212080" y="2606040"/>
            <a:ext cx="950976" cy="82296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752344"/>
            <a:ext cx="950976" cy="502920"/>
          </a:xfrm>
          <a:prstGeom prst="rect">
            <a:avLst/>
          </a:prstGeom>
          <a:noFill/>
        </p:spPr>
        <p:txBody>
          <a:bodyPr wrap="none" lIns="13716" rIns="13716" tIns="13716" bIns="13716">
            <a:spAutoFit/>
          </a:bodyPr>
          <a:lstStyle/>
          <a:p>
            <a:pPr algn="ctr">
              <a:lnSpc>
                <a:spcPct val="116000"/>
              </a:lnSpc>
              <a:spcBef>
                <a:spcPts val="0"/>
              </a:spcBef>
              <a:spcAft>
                <a:spcPts val="400"/>
              </a:spcAft>
            </a:pPr>
            <a:r>
              <a:rPr sz="3000" b="1" lang="ja-JP">
                <a:solidFill>
                  <a:srgbClr val="183244"/>
                </a:solidFill>
                <a:latin typeface="Noto Sans CJK JP"/>
                <a:ea typeface="Noto Sans CJK JP"/>
              </a:rPr>
              <a:t>C</a:t>
            </a:r>
          </a:p>
        </p:txBody>
      </p:sp>
      <p:sp>
        <p:nvSpPr>
          <p:cNvPr id="16" name="Rounded Rectangle 15"/>
          <p:cNvSpPr/>
          <p:nvPr/>
        </p:nvSpPr>
        <p:spPr>
          <a:xfrm>
            <a:off x="6400800" y="2606040"/>
            <a:ext cx="950976" cy="82296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752344"/>
            <a:ext cx="950976" cy="502920"/>
          </a:xfrm>
          <a:prstGeom prst="rect">
            <a:avLst/>
          </a:prstGeom>
          <a:noFill/>
        </p:spPr>
        <p:txBody>
          <a:bodyPr wrap="none" lIns="13716" rIns="13716" tIns="13716" bIns="13716">
            <a:spAutoFit/>
          </a:bodyPr>
          <a:lstStyle/>
          <a:p>
            <a:pPr algn="ctr">
              <a:lnSpc>
                <a:spcPct val="116000"/>
              </a:lnSpc>
              <a:spcBef>
                <a:spcPts val="0"/>
              </a:spcBef>
              <a:spcAft>
                <a:spcPts val="400"/>
              </a:spcAft>
            </a:pPr>
            <a:r>
              <a:rPr sz="3000" b="1" lang="ja-JP">
                <a:solidFill>
                  <a:srgbClr val="183244"/>
                </a:solidFill>
                <a:latin typeface="Noto Sans CJK JP"/>
                <a:ea typeface="Noto Sans CJK JP"/>
              </a:rPr>
              <a:t>D</a:t>
            </a:r>
          </a:p>
        </p:txBody>
      </p:sp>
      <p:sp>
        <p:nvSpPr>
          <p:cNvPr id="18" name="TextBox 17"/>
          <p:cNvSpPr txBox="1"/>
          <p:nvPr/>
        </p:nvSpPr>
        <p:spPr>
          <a:xfrm>
            <a:off x="896112" y="3941064"/>
            <a:ext cx="1554480" cy="457200"/>
          </a:xfrm>
          <a:prstGeom prst="rect">
            <a:avLst/>
          </a:prstGeom>
          <a:noFill/>
        </p:spPr>
        <p:txBody>
          <a:bodyPr wrap="none" lIns="13716" rIns="13716" tIns="13716" bIns="13716">
            <a:spAutoFit/>
          </a:bodyPr>
          <a:lstStyle/>
          <a:p>
            <a:pPr>
              <a:lnSpc>
                <a:spcPct val="116000"/>
              </a:lnSpc>
              <a:spcBef>
                <a:spcPts val="0"/>
              </a:spcBef>
              <a:spcAft>
                <a:spcPts val="400"/>
              </a:spcAft>
            </a:pPr>
            <a:r>
              <a:rPr sz="2400" b="1" lang="ja-JP">
                <a:solidFill>
                  <a:srgbClr val="007F78"/>
                </a:solidFill>
                <a:latin typeface="Noto Sans CJK JP"/>
                <a:ea typeface="Noto Sans CJK JP"/>
              </a:rPr>
              <a:t>変更後</a:t>
            </a:r>
          </a:p>
        </p:txBody>
      </p:sp>
      <p:sp>
        <p:nvSpPr>
          <p:cNvPr id="19" name="Rounded Rectangle 18"/>
          <p:cNvSpPr/>
          <p:nvPr/>
        </p:nvSpPr>
        <p:spPr>
          <a:xfrm>
            <a:off x="2834640" y="3794760"/>
            <a:ext cx="950976" cy="82296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34640" y="3941064"/>
            <a:ext cx="950976" cy="502920"/>
          </a:xfrm>
          <a:prstGeom prst="rect">
            <a:avLst/>
          </a:prstGeom>
          <a:noFill/>
        </p:spPr>
        <p:txBody>
          <a:bodyPr wrap="none" lIns="13716" rIns="13716" tIns="13716" bIns="13716">
            <a:spAutoFit/>
          </a:bodyPr>
          <a:lstStyle/>
          <a:p>
            <a:pPr algn="ctr">
              <a:lnSpc>
                <a:spcPct val="116000"/>
              </a:lnSpc>
              <a:spcBef>
                <a:spcPts val="0"/>
              </a:spcBef>
              <a:spcAft>
                <a:spcPts val="400"/>
              </a:spcAft>
            </a:pPr>
            <a:r>
              <a:rPr sz="3000" b="1" lang="ja-JP">
                <a:solidFill>
                  <a:srgbClr val="183244"/>
                </a:solidFill>
                <a:latin typeface="Noto Sans CJK JP"/>
                <a:ea typeface="Noto Sans CJK JP"/>
              </a:rPr>
              <a:t>B</a:t>
            </a:r>
          </a:p>
        </p:txBody>
      </p:sp>
      <p:sp>
        <p:nvSpPr>
          <p:cNvPr id="21" name="Rounded Rectangle 20"/>
          <p:cNvSpPr/>
          <p:nvPr/>
        </p:nvSpPr>
        <p:spPr>
          <a:xfrm>
            <a:off x="4023360" y="3794760"/>
            <a:ext cx="950976" cy="82296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0" y="3941064"/>
            <a:ext cx="950976" cy="502920"/>
          </a:xfrm>
          <a:prstGeom prst="rect">
            <a:avLst/>
          </a:prstGeom>
          <a:noFill/>
        </p:spPr>
        <p:txBody>
          <a:bodyPr wrap="none" lIns="13716" rIns="13716" tIns="13716" bIns="13716">
            <a:spAutoFit/>
          </a:bodyPr>
          <a:lstStyle/>
          <a:p>
            <a:pPr algn="ctr">
              <a:lnSpc>
                <a:spcPct val="116000"/>
              </a:lnSpc>
              <a:spcBef>
                <a:spcPts val="0"/>
              </a:spcBef>
              <a:spcAft>
                <a:spcPts val="400"/>
              </a:spcAft>
            </a:pPr>
            <a:r>
              <a:rPr sz="3000" b="1" lang="ja-JP">
                <a:solidFill>
                  <a:srgbClr val="183244"/>
                </a:solidFill>
                <a:latin typeface="Noto Sans CJK JP"/>
                <a:ea typeface="Noto Sans CJK JP"/>
              </a:rPr>
              <a:t>C</a:t>
            </a:r>
          </a:p>
        </p:txBody>
      </p:sp>
      <p:sp>
        <p:nvSpPr>
          <p:cNvPr id="23" name="Rounded Rectangle 22"/>
          <p:cNvSpPr/>
          <p:nvPr/>
        </p:nvSpPr>
        <p:spPr>
          <a:xfrm>
            <a:off x="5212080" y="3794760"/>
            <a:ext cx="950976" cy="82296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12080" y="3941064"/>
            <a:ext cx="950976" cy="502920"/>
          </a:xfrm>
          <a:prstGeom prst="rect">
            <a:avLst/>
          </a:prstGeom>
          <a:noFill/>
        </p:spPr>
        <p:txBody>
          <a:bodyPr wrap="none" lIns="13716" rIns="13716" tIns="13716" bIns="13716">
            <a:spAutoFit/>
          </a:bodyPr>
          <a:lstStyle/>
          <a:p>
            <a:pPr algn="ctr">
              <a:lnSpc>
                <a:spcPct val="116000"/>
              </a:lnSpc>
              <a:spcBef>
                <a:spcPts val="0"/>
              </a:spcBef>
              <a:spcAft>
                <a:spcPts val="400"/>
              </a:spcAft>
            </a:pPr>
            <a:r>
              <a:rPr sz="3000" b="1" lang="ja-JP">
                <a:solidFill>
                  <a:srgbClr val="183244"/>
                </a:solidFill>
                <a:latin typeface="Noto Sans CJK JP"/>
                <a:ea typeface="Noto Sans CJK JP"/>
              </a:rPr>
              <a:t>D</a:t>
            </a:r>
          </a:p>
        </p:txBody>
      </p:sp>
      <p:sp>
        <p:nvSpPr>
          <p:cNvPr id="25" name="Rounded Rectangle 24"/>
          <p:cNvSpPr/>
          <p:nvPr/>
        </p:nvSpPr>
        <p:spPr>
          <a:xfrm>
            <a:off x="6400800" y="3794760"/>
            <a:ext cx="950976" cy="822960"/>
          </a:xfrm>
          <a:prstGeom prst="roundRect">
            <a:avLst>
              <a:gd name="adj" fmla="val 12000"/>
            </a:avLst>
          </a:prstGeom>
          <a:solidFill>
            <a:srgbClr val="F8E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941064"/>
            <a:ext cx="950976" cy="502920"/>
          </a:xfrm>
          <a:prstGeom prst="rect">
            <a:avLst/>
          </a:prstGeom>
          <a:noFill/>
        </p:spPr>
        <p:txBody>
          <a:bodyPr wrap="none" lIns="13716" rIns="13716" tIns="13716" bIns="13716">
            <a:spAutoFit/>
          </a:bodyPr>
          <a:lstStyle/>
          <a:p>
            <a:pPr algn="ctr">
              <a:lnSpc>
                <a:spcPct val="116000"/>
              </a:lnSpc>
              <a:spcBef>
                <a:spcPts val="0"/>
              </a:spcBef>
              <a:spcAft>
                <a:spcPts val="400"/>
              </a:spcAft>
            </a:pPr>
            <a:r>
              <a:rPr sz="3000" b="1" lang="ja-JP">
                <a:solidFill>
                  <a:srgbClr val="183244"/>
                </a:solidFill>
                <a:latin typeface="Noto Sans CJK JP"/>
                <a:ea typeface="Noto Sans CJK JP"/>
              </a:rPr>
              <a:t>A</a:t>
            </a:r>
          </a:p>
        </p:txBody>
      </p:sp>
      <p:sp>
        <p:nvSpPr>
          <p:cNvPr id="27" name="TextBox 26"/>
          <p:cNvSpPr txBox="1"/>
          <p:nvPr/>
        </p:nvSpPr>
        <p:spPr>
          <a:xfrm>
            <a:off x="8275320" y="2834640"/>
            <a:ext cx="2880360" cy="1645920"/>
          </a:xfrm>
          <a:prstGeom prst="rect">
            <a:avLst/>
          </a:prstGeom>
          <a:noFill/>
        </p:spPr>
        <p:txBody>
          <a:bodyPr wrap="none" lIns="13716" rIns="13716" tIns="13716" bIns="13716">
            <a:spAutoFit/>
          </a:bodyPr>
          <a:lstStyle/>
          <a:p>
            <a:pPr>
              <a:lnSpc>
                <a:spcPct val="116000"/>
              </a:lnSpc>
              <a:spcBef>
                <a:spcPts val="0"/>
              </a:spcBef>
              <a:spcAft>
                <a:spcPts val="400"/>
              </a:spcAft>
            </a:pPr>
            <a:r>
              <a:rPr sz="2200" b="0" lang="ja-JP">
                <a:solidFill>
                  <a:srgbClr val="183244"/>
                </a:solidFill>
                <a:latin typeface="Noto Sans CJK JP"/>
                <a:ea typeface="Noto Sans CJK JP"/>
              </a:rPr>
              <a:t>最初の A を</a:t>
            </a:r>
          </a:p>
          <a:p>
            <a:pPr>
              <a:lnSpc>
                <a:spcPct val="116000"/>
              </a:lnSpc>
              <a:spcBef>
                <a:spcPts val="0"/>
              </a:spcBef>
              <a:spcAft>
                <a:spcPts val="400"/>
              </a:spcAft>
            </a:pPr>
            <a:r>
              <a:rPr sz="2200" b="0" lang="ja-JP">
                <a:solidFill>
                  <a:srgbClr val="183244"/>
                </a:solidFill>
                <a:latin typeface="Noto Sans CJK JP"/>
                <a:ea typeface="Noto Sans CJK JP"/>
              </a:rPr>
              <a:t>レジスタへ退避し、</a:t>
            </a:r>
          </a:p>
          <a:p>
            <a:pPr>
              <a:lnSpc>
                <a:spcPct val="116000"/>
              </a:lnSpc>
              <a:spcBef>
                <a:spcPts val="0"/>
              </a:spcBef>
              <a:spcAft>
                <a:spcPts val="400"/>
              </a:spcAft>
            </a:pPr>
            <a:r>
              <a:rPr sz="2200" b="0" lang="ja-JP">
                <a:solidFill>
                  <a:srgbClr val="183244"/>
                </a:solidFill>
                <a:latin typeface="Noto Sans CJK JP"/>
                <a:ea typeface="Noto Sans CJK JP"/>
              </a:rPr>
              <a:t>最後に書き戻す。</a:t>
            </a:r>
          </a:p>
        </p:txBody>
      </p:sp>
      <p:sp>
        <p:nvSpPr>
          <p:cNvPr id="28" name="Rounded Rectangle 27"/>
          <p:cNvSpPr/>
          <p:nvPr/>
        </p:nvSpPr>
        <p:spPr>
          <a:xfrm>
            <a:off x="868680" y="4937760"/>
            <a:ext cx="5486400" cy="1233297"/>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8992" y="5120640"/>
            <a:ext cx="5065776" cy="299212"/>
          </a:xfrm>
          <a:prstGeom prst="rect">
            <a:avLst/>
          </a:prstGeom>
          <a:noFill/>
        </p:spPr>
        <p:txBody>
          <a:bodyPr wrap="none" lIns="13716" rIns="13716" tIns="13716" bIns="13716">
            <a:spAutoFit/>
          </a:bodyPr>
          <a:lstStyle/>
          <a:p>
            <a:pPr>
              <a:lnSpc>
                <a:spcPct val="116000"/>
              </a:lnSpc>
              <a:spcBef>
                <a:spcPts val="0"/>
              </a:spcBef>
              <a:spcAft>
                <a:spcPts val="400"/>
              </a:spcAft>
            </a:pPr>
            <a:r>
              <a:rPr sz="1900" b="0" lang="ja-JP">
                <a:solidFill>
                  <a:srgbClr val="EAF3F1"/>
                </a:solidFill>
                <a:latin typeface="DejaVu Sans Mono"/>
                <a:ea typeface="Noto Sans CJK JP"/>
              </a:rPr>
              <a:t>lds r18, state+1</a:t>
            </a:r>
          </a:p>
        </p:txBody>
      </p:sp>
      <p:sp>
        <p:nvSpPr>
          <p:cNvPr id="30" name="TextBox 29"/>
          <p:cNvSpPr txBox="1"/>
          <p:nvPr/>
        </p:nvSpPr>
        <p:spPr>
          <a:xfrm>
            <a:off x="1078992" y="5440299"/>
            <a:ext cx="5065776" cy="299212"/>
          </a:xfrm>
          <a:prstGeom prst="rect">
            <a:avLst/>
          </a:prstGeom>
          <a:noFill/>
        </p:spPr>
        <p:txBody>
          <a:bodyPr wrap="none" lIns="13716" rIns="13716" tIns="13716" bIns="13716">
            <a:spAutoFit/>
          </a:bodyPr>
          <a:lstStyle/>
          <a:p>
            <a:pPr>
              <a:lnSpc>
                <a:spcPct val="116000"/>
              </a:lnSpc>
              <a:spcBef>
                <a:spcPts val="0"/>
              </a:spcBef>
              <a:spcAft>
                <a:spcPts val="400"/>
              </a:spcAft>
            </a:pPr>
            <a:r>
              <a:rPr sz="1900" b="0" lang="ja-JP">
                <a:solidFill>
                  <a:srgbClr val="EAF3F1"/>
                </a:solidFill>
                <a:latin typeface="DejaVu Sans Mono"/>
                <a:ea typeface="Noto Sans CJK JP"/>
              </a:rPr>
              <a:t>lds r19, state+5</a:t>
            </a:r>
          </a:p>
        </p:txBody>
      </p:sp>
      <p:sp>
        <p:nvSpPr>
          <p:cNvPr id="31" name="TextBox 30"/>
          <p:cNvSpPr txBox="1"/>
          <p:nvPr/>
        </p:nvSpPr>
        <p:spPr>
          <a:xfrm>
            <a:off x="1078992" y="5759958"/>
            <a:ext cx="5065776" cy="299212"/>
          </a:xfrm>
          <a:prstGeom prst="rect">
            <a:avLst/>
          </a:prstGeom>
          <a:noFill/>
        </p:spPr>
        <p:txBody>
          <a:bodyPr wrap="none" lIns="13716" rIns="13716" tIns="13716" bIns="13716">
            <a:spAutoFit/>
          </a:bodyPr>
          <a:lstStyle/>
          <a:p>
            <a:pPr>
              <a:lnSpc>
                <a:spcPct val="116000"/>
              </a:lnSpc>
              <a:spcBef>
                <a:spcPts val="0"/>
              </a:spcBef>
              <a:spcAft>
                <a:spcPts val="400"/>
              </a:spcAft>
            </a:pPr>
            <a:r>
              <a:rPr sz="1900" b="0" lang="ja-JP">
                <a:solidFill>
                  <a:srgbClr val="EAF3F1"/>
                </a:solidFill>
                <a:latin typeface="DejaVu Sans Mono"/>
                <a:ea typeface="Noto Sans CJK JP"/>
              </a:rPr>
              <a:t>sts state+1, r19</a:t>
            </a:r>
          </a:p>
        </p:txBody>
      </p:sp>
      <p:sp>
        <p:nvSpPr>
          <p:cNvPr id="32" name="TextBox 31"/>
          <p:cNvSpPr txBox="1"/>
          <p:nvPr/>
        </p:nvSpPr>
        <p:spPr>
          <a:xfrm>
            <a:off x="6720840" y="5239512"/>
            <a:ext cx="4590288" cy="758952"/>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r18 が C++ の temp に相当。</a:t>
            </a:r>
          </a:p>
          <a:p>
            <a:pPr>
              <a:lnSpc>
                <a:spcPct val="116000"/>
              </a:lnSpc>
              <a:spcBef>
                <a:spcPts val="0"/>
              </a:spcBef>
              <a:spcAft>
                <a:spcPts val="400"/>
              </a:spcAft>
            </a:pPr>
            <a:r>
              <a:rPr sz="2000" b="0" lang="ja-JP">
                <a:solidFill>
                  <a:srgbClr val="183244"/>
                </a:solidFill>
                <a:latin typeface="Noto Sans CJK JP"/>
                <a:ea typeface="Noto Sans CJK JP"/>
              </a:rPr>
              <a:t>全行とも元と同じ並びになります。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4 / 変更例⑤ MixColumns</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「左シフト ＋ 必要な XOR」で、列を混ぜる</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AES の2倍演算は、8ビット内の左シフトと補正で計算できます。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原本:galois_mul2()、MixColumns_Std() / measurement.S:364–413</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12</a:t>
            </a:r>
          </a:p>
        </p:txBody>
      </p:sp>
      <p:sp>
        <p:nvSpPr>
          <p:cNvPr id="9" name="Rounded Rectangle 8"/>
          <p:cNvSpPr/>
          <p:nvPr/>
        </p:nvSpPr>
        <p:spPr>
          <a:xfrm>
            <a:off x="822960" y="2560320"/>
            <a:ext cx="10515600" cy="992124"/>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670048"/>
            <a:ext cx="10113264" cy="256032"/>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8FBCB7"/>
                </a:solidFill>
                <a:latin typeface="Noto Sans CJK JP"/>
                <a:ea typeface="Noto Sans CJK JP"/>
              </a:rPr>
              <a:t>変更前 / galois_mul2 の中身</a:t>
            </a:r>
          </a:p>
        </p:txBody>
      </p:sp>
      <p:sp>
        <p:nvSpPr>
          <p:cNvPr id="11" name="TextBox 10"/>
          <p:cNvSpPr txBox="1"/>
          <p:nvPr/>
        </p:nvSpPr>
        <p:spPr>
          <a:xfrm>
            <a:off x="1033272" y="3063239"/>
            <a:ext cx="10094976" cy="377952"/>
          </a:xfrm>
          <a:prstGeom prst="rect">
            <a:avLst/>
          </a:prstGeom>
          <a:noFill/>
        </p:spPr>
        <p:txBody>
          <a:bodyPr wrap="none" lIns="13716" rIns="13716" tIns="13716" bIns="13716">
            <a:spAutoFit/>
          </a:bodyPr>
          <a:lstStyle/>
          <a:p>
            <a:pPr>
              <a:lnSpc>
                <a:spcPct val="116000"/>
              </a:lnSpc>
              <a:spcBef>
                <a:spcPts val="0"/>
              </a:spcBef>
              <a:spcAft>
                <a:spcPts val="400"/>
              </a:spcAft>
            </a:pPr>
            <a:r>
              <a:rPr sz="2400" b="0" lang="ja-JP">
                <a:solidFill>
                  <a:srgbClr val="EAF3F1"/>
                </a:solidFill>
                <a:latin typeface="DejaVu Sans Mono"/>
                <a:ea typeface="Noto Sans CJK JP"/>
              </a:rPr>
              <a:t>(a &lt;&lt; 1) ^ ((a &amp; 0x80) ? 0x1B : 0x00)</a:t>
            </a:r>
          </a:p>
        </p:txBody>
      </p:sp>
      <p:sp>
        <p:nvSpPr>
          <p:cNvPr id="12" name="Rounded Rectangle 11"/>
          <p:cNvSpPr/>
          <p:nvPr/>
        </p:nvSpPr>
        <p:spPr>
          <a:xfrm>
            <a:off x="850392" y="3749039"/>
            <a:ext cx="4727448" cy="2122931"/>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858768"/>
            <a:ext cx="4325112" cy="256032"/>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8FBCB7"/>
                </a:solidFill>
                <a:latin typeface="Noto Sans CJK JP"/>
                <a:ea typeface="Noto Sans CJK JP"/>
              </a:rPr>
              <a:t>XTIME r23,r24 の展開（r25 = 0x1B）</a:t>
            </a:r>
          </a:p>
        </p:txBody>
      </p:sp>
      <p:sp>
        <p:nvSpPr>
          <p:cNvPr id="14" name="TextBox 13"/>
          <p:cNvSpPr txBox="1"/>
          <p:nvPr/>
        </p:nvSpPr>
        <p:spPr>
          <a:xfrm>
            <a:off x="1060704" y="4251959"/>
            <a:ext cx="4306824"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mov  r24, r23</a:t>
            </a:r>
          </a:p>
        </p:txBody>
      </p:sp>
      <p:sp>
        <p:nvSpPr>
          <p:cNvPr id="15" name="TextBox 14"/>
          <p:cNvSpPr txBox="1"/>
          <p:nvPr/>
        </p:nvSpPr>
        <p:spPr>
          <a:xfrm>
            <a:off x="1060704" y="4634103"/>
            <a:ext cx="4306824"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lsl  r23</a:t>
            </a:r>
          </a:p>
        </p:txBody>
      </p:sp>
      <p:sp>
        <p:nvSpPr>
          <p:cNvPr id="16" name="TextBox 15"/>
          <p:cNvSpPr txBox="1"/>
          <p:nvPr/>
        </p:nvSpPr>
        <p:spPr>
          <a:xfrm>
            <a:off x="1060704" y="5016246"/>
            <a:ext cx="4306824"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sbrc r24, 7</a:t>
            </a:r>
          </a:p>
        </p:txBody>
      </p:sp>
      <p:sp>
        <p:nvSpPr>
          <p:cNvPr id="17" name="TextBox 16"/>
          <p:cNvSpPr txBox="1"/>
          <p:nvPr/>
        </p:nvSpPr>
        <p:spPr>
          <a:xfrm>
            <a:off x="1060704" y="5398389"/>
            <a:ext cx="4306824"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eor  r23, r25</a:t>
            </a:r>
          </a:p>
        </p:txBody>
      </p:sp>
      <p:sp>
        <p:nvSpPr>
          <p:cNvPr id="18" name="TextBox 17"/>
          <p:cNvSpPr txBox="1"/>
          <p:nvPr/>
        </p:nvSpPr>
        <p:spPr>
          <a:xfrm>
            <a:off x="6007608" y="3977639"/>
            <a:ext cx="5184648" cy="173736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① 元の値を r24 に保存</a:t>
            </a:r>
          </a:p>
          <a:p>
            <a:pPr>
              <a:lnSpc>
                <a:spcPct val="116000"/>
              </a:lnSpc>
              <a:spcBef>
                <a:spcPts val="0"/>
              </a:spcBef>
              <a:spcAft>
                <a:spcPts val="400"/>
              </a:spcAft>
            </a:pPr>
            <a:r>
              <a:rPr sz="2000" b="0" lang="ja-JP">
                <a:solidFill>
                  <a:srgbClr val="183244"/>
                </a:solidFill>
                <a:latin typeface="Noto Sans CJK JP"/>
                <a:ea typeface="Noto Sans CJK JP"/>
              </a:rPr>
              <a:t>② r23 を左に1ビットずらす</a:t>
            </a:r>
          </a:p>
          <a:p>
            <a:pPr>
              <a:lnSpc>
                <a:spcPct val="116000"/>
              </a:lnSpc>
              <a:spcBef>
                <a:spcPts val="0"/>
              </a:spcBef>
              <a:spcAft>
                <a:spcPts val="400"/>
              </a:spcAft>
            </a:pPr>
            <a:r>
              <a:rPr sz="2000" b="0" lang="ja-JP">
                <a:solidFill>
                  <a:srgbClr val="183244"/>
                </a:solidFill>
                <a:latin typeface="Noto Sans CJK JP"/>
                <a:ea typeface="Noto Sans CJK JP"/>
              </a:rPr>
              <a:t>③ 元の最上位ビットが0なら次を飛ばす</a:t>
            </a:r>
          </a:p>
          <a:p>
            <a:pPr>
              <a:lnSpc>
                <a:spcPct val="116000"/>
              </a:lnSpc>
              <a:spcBef>
                <a:spcPts val="0"/>
              </a:spcBef>
              <a:spcAft>
                <a:spcPts val="400"/>
              </a:spcAft>
            </a:pPr>
            <a:r>
              <a:rPr sz="2000" b="0" lang="ja-JP">
                <a:solidFill>
                  <a:srgbClr val="183244"/>
                </a:solidFill>
                <a:latin typeface="Noto Sans CJK JP"/>
                <a:ea typeface="Noto Sans CJK JP"/>
              </a:rPr>
              <a:t>④ 1なら 0x1B と XOR して補正</a:t>
            </a:r>
          </a:p>
        </p:txBody>
      </p:sp>
      <p:sp>
        <p:nvSpPr>
          <p:cNvPr id="19" name="TextBox 18"/>
          <p:cNvSpPr txBox="1"/>
          <p:nvPr/>
        </p:nvSpPr>
        <p:spPr>
          <a:xfrm>
            <a:off x="896112" y="5980176"/>
            <a:ext cx="10607040" cy="228600"/>
          </a:xfrm>
          <a:prstGeom prst="rect">
            <a:avLst/>
          </a:prstGeom>
          <a:noFill/>
        </p:spPr>
        <p:txBody>
          <a:bodyPr wrap="none" lIns="13716" rIns="13716" tIns="13716" bIns="13716">
            <a:spAutoFit/>
          </a:bodyPr>
          <a:lstStyle/>
          <a:p>
            <a:pPr>
              <a:lnSpc>
                <a:spcPct val="116000"/>
              </a:lnSpc>
              <a:spcBef>
                <a:spcPts val="0"/>
              </a:spcBef>
              <a:spcAft>
                <a:spcPts val="400"/>
              </a:spcAft>
            </a:pPr>
            <a:r>
              <a:rPr sz="1600" b="0" lang="ja-JP">
                <a:solidFill>
                  <a:srgbClr val="61727D"/>
                </a:solidFill>
                <a:latin typeface="Noto Sans CJK JP"/>
                <a:ea typeface="Noto Sans CJK JP"/>
              </a:rPr>
              <a:t>列の式も同じ結果になる形へ整理。演算回数や波形が同じになる保証はありません。</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4 / 変更例⑥ 32ビットの乱数</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32ビットの値を、4つの8ビットに分ける</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元の xorshift32 と同じ計算順とシードを維持しました。</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Arduino Uno / ATmega328P  |  AES measurement → AVR assembly</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13</a:t>
            </a:r>
          </a:p>
        </p:txBody>
      </p:sp>
      <p:sp>
        <p:nvSpPr>
          <p:cNvPr id="9" name="Rounded Rectangle 8"/>
          <p:cNvSpPr/>
          <p:nvPr/>
        </p:nvSpPr>
        <p:spPr>
          <a:xfrm>
            <a:off x="822960" y="2587752"/>
            <a:ext cx="5047488" cy="1881378"/>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697480"/>
            <a:ext cx="4645151" cy="256032"/>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8FBCB7"/>
                </a:solidFill>
                <a:latin typeface="Noto Sans CJK JP"/>
                <a:ea typeface="Noto Sans CJK JP"/>
              </a:rPr>
              <a:t>元の計算 / 初期シード12345</a:t>
            </a:r>
          </a:p>
        </p:txBody>
      </p:sp>
      <p:sp>
        <p:nvSpPr>
          <p:cNvPr id="11" name="TextBox 10"/>
          <p:cNvSpPr txBox="1"/>
          <p:nvPr/>
        </p:nvSpPr>
        <p:spPr>
          <a:xfrm>
            <a:off x="1033272" y="3090672"/>
            <a:ext cx="4626864" cy="409448"/>
          </a:xfrm>
          <a:prstGeom prst="rect">
            <a:avLst/>
          </a:prstGeom>
          <a:noFill/>
        </p:spPr>
        <p:txBody>
          <a:bodyPr wrap="none" lIns="13716" rIns="13716" tIns="13716" bIns="13716">
            <a:spAutoFit/>
          </a:bodyPr>
          <a:lstStyle/>
          <a:p>
            <a:pPr>
              <a:lnSpc>
                <a:spcPct val="116000"/>
              </a:lnSpc>
              <a:spcBef>
                <a:spcPts val="0"/>
              </a:spcBef>
              <a:spcAft>
                <a:spcPts val="400"/>
              </a:spcAft>
            </a:pPr>
            <a:r>
              <a:rPr sz="2600" b="0" lang="ja-JP">
                <a:solidFill>
                  <a:srgbClr val="EAF3F1"/>
                </a:solidFill>
                <a:latin typeface="DejaVu Sans Mono"/>
                <a:ea typeface="Noto Sans CJK JP"/>
              </a:rPr>
              <a:t>x ^= x &lt;&lt; 13;</a:t>
            </a:r>
          </a:p>
        </p:txBody>
      </p:sp>
      <p:sp>
        <p:nvSpPr>
          <p:cNvPr id="12" name="TextBox 11"/>
          <p:cNvSpPr txBox="1"/>
          <p:nvPr/>
        </p:nvSpPr>
        <p:spPr>
          <a:xfrm>
            <a:off x="1033272" y="3519678"/>
            <a:ext cx="4626864" cy="409448"/>
          </a:xfrm>
          <a:prstGeom prst="rect">
            <a:avLst/>
          </a:prstGeom>
          <a:noFill/>
        </p:spPr>
        <p:txBody>
          <a:bodyPr wrap="none" lIns="13716" rIns="13716" tIns="13716" bIns="13716">
            <a:spAutoFit/>
          </a:bodyPr>
          <a:lstStyle/>
          <a:p>
            <a:pPr>
              <a:lnSpc>
                <a:spcPct val="116000"/>
              </a:lnSpc>
              <a:spcBef>
                <a:spcPts val="0"/>
              </a:spcBef>
              <a:spcAft>
                <a:spcPts val="400"/>
              </a:spcAft>
            </a:pPr>
            <a:r>
              <a:rPr sz="2600" b="0" lang="ja-JP">
                <a:solidFill>
                  <a:srgbClr val="EAF3F1"/>
                </a:solidFill>
                <a:latin typeface="DejaVu Sans Mono"/>
                <a:ea typeface="Noto Sans CJK JP"/>
              </a:rPr>
              <a:t>x ^= x &gt;&gt; 17;</a:t>
            </a:r>
          </a:p>
        </p:txBody>
      </p:sp>
      <p:sp>
        <p:nvSpPr>
          <p:cNvPr id="13" name="TextBox 12"/>
          <p:cNvSpPr txBox="1"/>
          <p:nvPr/>
        </p:nvSpPr>
        <p:spPr>
          <a:xfrm>
            <a:off x="1033272" y="3948684"/>
            <a:ext cx="4626864" cy="409448"/>
          </a:xfrm>
          <a:prstGeom prst="rect">
            <a:avLst/>
          </a:prstGeom>
          <a:noFill/>
        </p:spPr>
        <p:txBody>
          <a:bodyPr wrap="none" lIns="13716" rIns="13716" tIns="13716" bIns="13716">
            <a:spAutoFit/>
          </a:bodyPr>
          <a:lstStyle/>
          <a:p>
            <a:pPr>
              <a:lnSpc>
                <a:spcPct val="116000"/>
              </a:lnSpc>
              <a:spcBef>
                <a:spcPts val="0"/>
              </a:spcBef>
              <a:spcAft>
                <a:spcPts val="400"/>
              </a:spcAft>
            </a:pPr>
            <a:r>
              <a:rPr sz="2600" b="0" lang="ja-JP">
                <a:solidFill>
                  <a:srgbClr val="EAF3F1"/>
                </a:solidFill>
                <a:latin typeface="DejaVu Sans Mono"/>
                <a:ea typeface="Noto Sans CJK JP"/>
              </a:rPr>
              <a:t>x ^= x &lt;&lt; 5;</a:t>
            </a:r>
          </a:p>
        </p:txBody>
      </p:sp>
      <p:sp>
        <p:nvSpPr>
          <p:cNvPr id="14" name="Rounded Rectangle 13"/>
          <p:cNvSpPr/>
          <p:nvPr/>
        </p:nvSpPr>
        <p:spPr>
          <a:xfrm>
            <a:off x="6355080" y="2944368"/>
            <a:ext cx="987552" cy="73152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3145536"/>
            <a:ext cx="969264" cy="320040"/>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DejaVu Sans Mono"/>
                <a:ea typeface="Noto Sans CJK JP"/>
              </a:rPr>
              <a:t>r18</a:t>
            </a:r>
          </a:p>
        </p:txBody>
      </p:sp>
      <p:sp>
        <p:nvSpPr>
          <p:cNvPr id="16" name="Rounded Rectangle 15"/>
          <p:cNvSpPr/>
          <p:nvPr/>
        </p:nvSpPr>
        <p:spPr>
          <a:xfrm>
            <a:off x="7562088" y="2944368"/>
            <a:ext cx="987552" cy="73152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45536"/>
            <a:ext cx="969264" cy="320040"/>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DejaVu Sans Mono"/>
                <a:ea typeface="Noto Sans CJK JP"/>
              </a:rPr>
              <a:t>r19</a:t>
            </a:r>
          </a:p>
        </p:txBody>
      </p:sp>
      <p:sp>
        <p:nvSpPr>
          <p:cNvPr id="18" name="Rounded Rectangle 17"/>
          <p:cNvSpPr/>
          <p:nvPr/>
        </p:nvSpPr>
        <p:spPr>
          <a:xfrm>
            <a:off x="8769096" y="2944368"/>
            <a:ext cx="987552" cy="73152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0" y="3145536"/>
            <a:ext cx="969264" cy="320040"/>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DejaVu Sans Mono"/>
                <a:ea typeface="Noto Sans CJK JP"/>
              </a:rPr>
              <a:t>r20</a:t>
            </a:r>
          </a:p>
        </p:txBody>
      </p:sp>
      <p:sp>
        <p:nvSpPr>
          <p:cNvPr id="20" name="Rounded Rectangle 19"/>
          <p:cNvSpPr/>
          <p:nvPr/>
        </p:nvSpPr>
        <p:spPr>
          <a:xfrm>
            <a:off x="9976104" y="2944368"/>
            <a:ext cx="987552" cy="73152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85248" y="3145536"/>
            <a:ext cx="969264" cy="320040"/>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DejaVu Sans Mono"/>
                <a:ea typeface="Noto Sans CJK JP"/>
              </a:rPr>
              <a:t>r21</a:t>
            </a:r>
          </a:p>
        </p:txBody>
      </p:sp>
      <p:sp>
        <p:nvSpPr>
          <p:cNvPr id="22" name="TextBox 21"/>
          <p:cNvSpPr txBox="1"/>
          <p:nvPr/>
        </p:nvSpPr>
        <p:spPr>
          <a:xfrm>
            <a:off x="6400800" y="3950208"/>
            <a:ext cx="4617720" cy="82296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下位 → 上位の順に4バイト。</a:t>
            </a:r>
          </a:p>
          <a:p>
            <a:pPr>
              <a:lnSpc>
                <a:spcPct val="116000"/>
              </a:lnSpc>
              <a:spcBef>
                <a:spcPts val="0"/>
              </a:spcBef>
              <a:spcAft>
                <a:spcPts val="400"/>
              </a:spcAft>
            </a:pPr>
            <a:r>
              <a:rPr sz="2000" b="0" lang="ja-JP">
                <a:solidFill>
                  <a:srgbClr val="183244"/>
                </a:solidFill>
                <a:latin typeface="Noto Sans CJK JP"/>
                <a:ea typeface="Noto Sans CJK JP"/>
              </a:rPr>
              <a:t>桁をまたぐ1ビットも引き継ぎます。</a:t>
            </a:r>
          </a:p>
        </p:txBody>
      </p:sp>
      <p:sp>
        <p:nvSpPr>
          <p:cNvPr id="23" name="Rounded Rectangle 22"/>
          <p:cNvSpPr/>
          <p:nvPr/>
        </p:nvSpPr>
        <p:spPr>
          <a:xfrm>
            <a:off x="868680" y="4709160"/>
            <a:ext cx="4937760" cy="1427988"/>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8992" y="4892040"/>
            <a:ext cx="4517136" cy="267716"/>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EAF3F1"/>
                </a:solidFill>
                <a:latin typeface="DejaVu Sans Mono"/>
                <a:ea typeface="Noto Sans CJK JP"/>
              </a:rPr>
              <a:t>lsl r22</a:t>
            </a:r>
          </a:p>
        </p:txBody>
      </p:sp>
      <p:sp>
        <p:nvSpPr>
          <p:cNvPr id="25" name="TextBox 24"/>
          <p:cNvSpPr txBox="1"/>
          <p:nvPr/>
        </p:nvSpPr>
        <p:spPr>
          <a:xfrm>
            <a:off x="1078992" y="5180457"/>
            <a:ext cx="4517136" cy="267716"/>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EAF3F1"/>
                </a:solidFill>
                <a:latin typeface="DejaVu Sans Mono"/>
                <a:ea typeface="Noto Sans CJK JP"/>
              </a:rPr>
              <a:t>rol r23</a:t>
            </a:r>
          </a:p>
        </p:txBody>
      </p:sp>
      <p:sp>
        <p:nvSpPr>
          <p:cNvPr id="26" name="TextBox 25"/>
          <p:cNvSpPr txBox="1"/>
          <p:nvPr/>
        </p:nvSpPr>
        <p:spPr>
          <a:xfrm>
            <a:off x="1078992" y="5468874"/>
            <a:ext cx="4517136" cy="267716"/>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EAF3F1"/>
                </a:solidFill>
                <a:latin typeface="DejaVu Sans Mono"/>
                <a:ea typeface="Noto Sans CJK JP"/>
              </a:rPr>
              <a:t>rol r24</a:t>
            </a:r>
          </a:p>
        </p:txBody>
      </p:sp>
      <p:sp>
        <p:nvSpPr>
          <p:cNvPr id="27" name="TextBox 26"/>
          <p:cNvSpPr txBox="1"/>
          <p:nvPr/>
        </p:nvSpPr>
        <p:spPr>
          <a:xfrm>
            <a:off x="1078992" y="5757291"/>
            <a:ext cx="4517136" cy="267716"/>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EAF3F1"/>
                </a:solidFill>
                <a:latin typeface="DejaVu Sans Mono"/>
                <a:ea typeface="Noto Sans CJK JP"/>
              </a:rPr>
              <a:t>rol r25</a:t>
            </a:r>
          </a:p>
        </p:txBody>
      </p:sp>
      <p:sp>
        <p:nvSpPr>
          <p:cNvPr id="28" name="TextBox 27"/>
          <p:cNvSpPr txBox="1"/>
          <p:nvPr/>
        </p:nvSpPr>
        <p:spPr>
          <a:xfrm>
            <a:off x="6355080" y="4791456"/>
            <a:ext cx="4663440" cy="123444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複製した r22–r25 をシフト。</a:t>
            </a:r>
          </a:p>
          <a:p>
            <a:pPr>
              <a:lnSpc>
                <a:spcPct val="116000"/>
              </a:lnSpc>
              <a:spcBef>
                <a:spcPts val="0"/>
              </a:spcBef>
              <a:spcAft>
                <a:spcPts val="400"/>
              </a:spcAft>
            </a:pPr>
            <a:r>
              <a:rPr sz="2000" b="0" lang="ja-JP">
                <a:solidFill>
                  <a:srgbClr val="183244"/>
                </a:solidFill>
                <a:latin typeface="Noto Sans CJK JP"/>
                <a:ea typeface="Noto Sans CJK JP"/>
              </a:rPr>
              <a:t>lsl で出た1ビットを、</a:t>
            </a:r>
          </a:p>
          <a:p>
            <a:pPr>
              <a:lnSpc>
                <a:spcPct val="116000"/>
              </a:lnSpc>
              <a:spcBef>
                <a:spcPts val="0"/>
              </a:spcBef>
              <a:spcAft>
                <a:spcPts val="400"/>
              </a:spcAft>
            </a:pPr>
            <a:r>
              <a:rPr sz="2000" b="0" lang="ja-JP">
                <a:solidFill>
                  <a:srgbClr val="183244"/>
                </a:solidFill>
                <a:latin typeface="Noto Sans CJK JP"/>
                <a:ea typeface="Noto Sans CJK JP"/>
              </a:rPr>
              <a:t>rol が次のバイトへ渡します。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4 / 変更例⑦ if とバッチ制御</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条件を比較し、次に進む場所を選ぶ</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大文字 S で開始・再開。完了後の S ではシードも初期化します。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measurement.S:75–99, 177–212 / 比較の結果はフラグに記録される</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14</a:t>
            </a:r>
          </a:p>
        </p:txBody>
      </p:sp>
      <p:sp>
        <p:nvSpPr>
          <p:cNvPr id="9" name="Rounded Rectangle 8"/>
          <p:cNvSpPr/>
          <p:nvPr/>
        </p:nvSpPr>
        <p:spPr>
          <a:xfrm>
            <a:off x="841248" y="2606040"/>
            <a:ext cx="4800600" cy="2122931"/>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715768"/>
            <a:ext cx="4398264" cy="256032"/>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8FBCB7"/>
                </a:solidFill>
                <a:latin typeface="Noto Sans CJK JP"/>
                <a:ea typeface="Noto Sans CJK JP"/>
              </a:rPr>
              <a:t>受信済み文字を判定（最後のコメントは説明用）</a:t>
            </a:r>
          </a:p>
        </p:txBody>
      </p:sp>
      <p:sp>
        <p:nvSpPr>
          <p:cNvPr id="11" name="TextBox 10"/>
          <p:cNvSpPr txBox="1"/>
          <p:nvPr/>
        </p:nvSpPr>
        <p:spPr>
          <a:xfrm>
            <a:off x="1051560" y="3108960"/>
            <a:ext cx="4379976"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cpi  r24, 'S'</a:t>
            </a:r>
          </a:p>
        </p:txBody>
      </p:sp>
      <p:sp>
        <p:nvSpPr>
          <p:cNvPr id="12" name="TextBox 11"/>
          <p:cNvSpPr txBox="1"/>
          <p:nvPr/>
        </p:nvSpPr>
        <p:spPr>
          <a:xfrm>
            <a:off x="1051560" y="3491103"/>
            <a:ext cx="4379976"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breq 2f</a:t>
            </a:r>
          </a:p>
        </p:txBody>
      </p:sp>
      <p:sp>
        <p:nvSpPr>
          <p:cNvPr id="13" name="TextBox 12"/>
          <p:cNvSpPr txBox="1"/>
          <p:nvPr/>
        </p:nvSpPr>
        <p:spPr>
          <a:xfrm>
            <a:off x="1051560" y="3873246"/>
            <a:ext cx="4379976"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ret</a:t>
            </a:r>
          </a:p>
        </p:txBody>
      </p:sp>
      <p:sp>
        <p:nvSpPr>
          <p:cNvPr id="14" name="TextBox 13"/>
          <p:cNvSpPr txBox="1"/>
          <p:nvPr/>
        </p:nvSpPr>
        <p:spPr>
          <a:xfrm>
            <a:off x="1051560" y="4255389"/>
            <a:ext cx="4379976"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2:  ; start / resume</a:t>
            </a:r>
          </a:p>
        </p:txBody>
      </p:sp>
      <p:sp>
        <p:nvSpPr>
          <p:cNvPr id="15" name="Rounded Rectangle 14"/>
          <p:cNvSpPr/>
          <p:nvPr/>
        </p:nvSpPr>
        <p:spPr>
          <a:xfrm>
            <a:off x="6089904" y="2615184"/>
            <a:ext cx="5257800" cy="106070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89904" y="2615184"/>
            <a:ext cx="54864" cy="10607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2784" y="2743200"/>
            <a:ext cx="491032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cpi → 比較する</a:t>
            </a:r>
          </a:p>
        </p:txBody>
      </p:sp>
      <p:sp>
        <p:nvSpPr>
          <p:cNvPr id="18" name="TextBox 17"/>
          <p:cNvSpPr txBox="1"/>
          <p:nvPr/>
        </p:nvSpPr>
        <p:spPr>
          <a:xfrm>
            <a:off x="6272784" y="3236976"/>
            <a:ext cx="4910328" cy="402335"/>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受信文字が S と同じか確認</a:t>
            </a:r>
          </a:p>
        </p:txBody>
      </p:sp>
      <p:sp>
        <p:nvSpPr>
          <p:cNvPr id="19" name="Rounded Rectangle 18"/>
          <p:cNvSpPr/>
          <p:nvPr/>
        </p:nvSpPr>
        <p:spPr>
          <a:xfrm>
            <a:off x="6089904" y="3858768"/>
            <a:ext cx="5257800" cy="1060704"/>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89904" y="3858768"/>
            <a:ext cx="54864" cy="1060704"/>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72784" y="3986783"/>
            <a:ext cx="491032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breq → 等しければジャンプ</a:t>
            </a:r>
          </a:p>
        </p:txBody>
      </p:sp>
      <p:sp>
        <p:nvSpPr>
          <p:cNvPr id="22" name="TextBox 21"/>
          <p:cNvSpPr txBox="1"/>
          <p:nvPr/>
        </p:nvSpPr>
        <p:spPr>
          <a:xfrm>
            <a:off x="6272784" y="4480559"/>
            <a:ext cx="4910328" cy="402335"/>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2f：前方にあるラベル2へ進む</a:t>
            </a:r>
          </a:p>
        </p:txBody>
      </p:sp>
      <p:sp>
        <p:nvSpPr>
          <p:cNvPr id="23" name="Rounded Rectangle 22"/>
          <p:cNvSpPr/>
          <p:nvPr/>
        </p:nvSpPr>
        <p:spPr>
          <a:xfrm>
            <a:off x="905256" y="5431536"/>
            <a:ext cx="1911095" cy="43891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 y="5522976"/>
            <a:ext cx="1819656" cy="256032"/>
          </a:xfrm>
          <a:prstGeom prst="rect">
            <a:avLst/>
          </a:prstGeom>
          <a:noFill/>
        </p:spPr>
        <p:txBody>
          <a:bodyPr wrap="none" lIns="13716" rIns="13716" tIns="13716" bIns="13716">
            <a:spAutoFit/>
          </a:bodyPr>
          <a:lstStyle/>
          <a:p>
            <a:pPr algn="ctr">
              <a:lnSpc>
                <a:spcPct val="116000"/>
              </a:lnSpc>
              <a:spcBef>
                <a:spcPts val="0"/>
              </a:spcBef>
              <a:spcAft>
                <a:spcPts val="400"/>
              </a:spcAft>
            </a:pPr>
            <a:r>
              <a:rPr sz="1700" b="1" lang="ja-JP">
                <a:solidFill>
                  <a:srgbClr val="007F78"/>
                </a:solidFill>
                <a:latin typeface="DejaVu Sans Mono"/>
                <a:ea typeface="Noto Sans CJK JP"/>
              </a:rPr>
              <a:t>0–499</a:t>
            </a:r>
          </a:p>
        </p:txBody>
      </p:sp>
      <p:sp>
        <p:nvSpPr>
          <p:cNvPr id="25" name="Right Arrow 24"/>
          <p:cNvSpPr/>
          <p:nvPr/>
        </p:nvSpPr>
        <p:spPr>
          <a:xfrm>
            <a:off x="2862072" y="5568696"/>
            <a:ext cx="182880" cy="137160"/>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136391" y="5431536"/>
            <a:ext cx="1911095" cy="43891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82111" y="5522976"/>
            <a:ext cx="1819656" cy="256032"/>
          </a:xfrm>
          <a:prstGeom prst="rect">
            <a:avLst/>
          </a:prstGeom>
          <a:noFill/>
        </p:spPr>
        <p:txBody>
          <a:bodyPr wrap="none" lIns="13716" rIns="13716" tIns="13716" bIns="13716">
            <a:spAutoFit/>
          </a:bodyPr>
          <a:lstStyle/>
          <a:p>
            <a:pPr algn="ctr">
              <a:lnSpc>
                <a:spcPct val="116000"/>
              </a:lnSpc>
              <a:spcBef>
                <a:spcPts val="0"/>
              </a:spcBef>
              <a:spcAft>
                <a:spcPts val="400"/>
              </a:spcAft>
            </a:pPr>
            <a:r>
              <a:rPr sz="1700" b="1" lang="ja-JP">
                <a:solidFill>
                  <a:srgbClr val="007F78"/>
                </a:solidFill>
                <a:latin typeface="DejaVu Sans Mono"/>
                <a:ea typeface="Noto Sans CJK JP"/>
              </a:rPr>
              <a:t>500–999</a:t>
            </a:r>
          </a:p>
        </p:txBody>
      </p:sp>
      <p:sp>
        <p:nvSpPr>
          <p:cNvPr id="28" name="Right Arrow 27"/>
          <p:cNvSpPr/>
          <p:nvPr/>
        </p:nvSpPr>
        <p:spPr>
          <a:xfrm>
            <a:off x="5093208" y="5568696"/>
            <a:ext cx="182880" cy="137160"/>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367528" y="5431536"/>
            <a:ext cx="1911095" cy="43891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13248" y="5522976"/>
            <a:ext cx="1819656" cy="256032"/>
          </a:xfrm>
          <a:prstGeom prst="rect">
            <a:avLst/>
          </a:prstGeom>
          <a:noFill/>
        </p:spPr>
        <p:txBody>
          <a:bodyPr wrap="none" lIns="13716" rIns="13716" tIns="13716" bIns="13716">
            <a:spAutoFit/>
          </a:bodyPr>
          <a:lstStyle/>
          <a:p>
            <a:pPr algn="ctr">
              <a:lnSpc>
                <a:spcPct val="116000"/>
              </a:lnSpc>
              <a:spcBef>
                <a:spcPts val="0"/>
              </a:spcBef>
              <a:spcAft>
                <a:spcPts val="400"/>
              </a:spcAft>
            </a:pPr>
            <a:r>
              <a:rPr sz="1700" b="1" lang="ja-JP">
                <a:solidFill>
                  <a:srgbClr val="007F78"/>
                </a:solidFill>
                <a:latin typeface="DejaVu Sans Mono"/>
                <a:ea typeface="Noto Sans CJK JP"/>
              </a:rPr>
              <a:t>…</a:t>
            </a:r>
          </a:p>
        </p:txBody>
      </p:sp>
      <p:sp>
        <p:nvSpPr>
          <p:cNvPr id="31" name="Right Arrow 30"/>
          <p:cNvSpPr/>
          <p:nvPr/>
        </p:nvSpPr>
        <p:spPr>
          <a:xfrm>
            <a:off x="7324344" y="5568696"/>
            <a:ext cx="182880" cy="137160"/>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598664" y="5431536"/>
            <a:ext cx="1911095" cy="43891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44384" y="5522976"/>
            <a:ext cx="1819656" cy="256032"/>
          </a:xfrm>
          <a:prstGeom prst="rect">
            <a:avLst/>
          </a:prstGeom>
          <a:noFill/>
        </p:spPr>
        <p:txBody>
          <a:bodyPr wrap="none" lIns="13716" rIns="13716" tIns="13716" bIns="13716">
            <a:spAutoFit/>
          </a:bodyPr>
          <a:lstStyle/>
          <a:p>
            <a:pPr algn="ctr">
              <a:lnSpc>
                <a:spcPct val="116000"/>
              </a:lnSpc>
              <a:spcBef>
                <a:spcPts val="0"/>
              </a:spcBef>
              <a:spcAft>
                <a:spcPts val="400"/>
              </a:spcAft>
            </a:pPr>
            <a:r>
              <a:rPr sz="1700" b="1" lang="ja-JP">
                <a:solidFill>
                  <a:srgbClr val="007F78"/>
                </a:solidFill>
                <a:latin typeface="DejaVu Sans Mono"/>
                <a:ea typeface="Noto Sans CJK JP"/>
              </a:rPr>
              <a:t>4500–4999</a:t>
            </a:r>
          </a:p>
        </p:txBody>
      </p:sp>
      <p:sp>
        <p:nvSpPr>
          <p:cNvPr id="34" name="Right Arrow 33"/>
          <p:cNvSpPr/>
          <p:nvPr/>
        </p:nvSpPr>
        <p:spPr>
          <a:xfrm>
            <a:off x="9555480" y="5568696"/>
            <a:ext cx="182880" cy="137160"/>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829800" y="5431536"/>
            <a:ext cx="1911095" cy="43891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75520" y="5522976"/>
            <a:ext cx="1819656" cy="256032"/>
          </a:xfrm>
          <a:prstGeom prst="rect">
            <a:avLst/>
          </a:prstGeom>
          <a:noFill/>
        </p:spPr>
        <p:txBody>
          <a:bodyPr wrap="none" lIns="13716" rIns="13716" tIns="13716" bIns="13716">
            <a:spAutoFit/>
          </a:bodyPr>
          <a:lstStyle/>
          <a:p>
            <a:pPr algn="ctr">
              <a:lnSpc>
                <a:spcPct val="116000"/>
              </a:lnSpc>
              <a:spcBef>
                <a:spcPts val="0"/>
              </a:spcBef>
              <a:spcAft>
                <a:spcPts val="400"/>
              </a:spcAft>
            </a:pPr>
            <a:r>
              <a:rPr sz="1700" b="1" lang="ja-JP">
                <a:solidFill>
                  <a:srgbClr val="007F78"/>
                </a:solidFill>
                <a:latin typeface="DejaVu Sans Mono"/>
                <a:ea typeface="Noto Sans CJK JP"/>
              </a:rPr>
              <a:t>0–499</a:t>
            </a:r>
          </a:p>
        </p:txBody>
      </p:sp>
      <p:sp>
        <p:nvSpPr>
          <p:cNvPr id="37" name="TextBox 36"/>
          <p:cNvSpPr txBox="1"/>
          <p:nvPr/>
        </p:nvSpPr>
        <p:spPr>
          <a:xfrm>
            <a:off x="905256" y="5971032"/>
            <a:ext cx="10424160" cy="201168"/>
          </a:xfrm>
          <a:prstGeom prst="rect">
            <a:avLst/>
          </a:prstGeom>
          <a:noFill/>
        </p:spPr>
        <p:txBody>
          <a:bodyPr wrap="none" lIns="13716" rIns="13716" tIns="13716" bIns="13716">
            <a:spAutoFit/>
          </a:bodyPr>
          <a:lstStyle/>
          <a:p>
            <a:pPr>
              <a:lnSpc>
                <a:spcPct val="116000"/>
              </a:lnSpc>
              <a:spcBef>
                <a:spcPts val="0"/>
              </a:spcBef>
              <a:spcAft>
                <a:spcPts val="400"/>
              </a:spcAft>
            </a:pPr>
            <a:r>
              <a:rPr sz="1500" b="0" lang="ja-JP">
                <a:solidFill>
                  <a:srgbClr val="61727D"/>
                </a:solidFill>
                <a:latin typeface="Noto Sans CJK JP"/>
                <a:ea typeface="Noto Sans CJK JP"/>
              </a:rPr>
              <a:t>各バッチは S で進行。最後の矢印では、平文番号と乱数シードをリセット。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5 / Arduino 標準機能へつなぐ</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計算と進行管理は .S、機器操作は Arduino へ</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全体を動かすには、同じフォルダーにある .S と .ino の両方が必要です。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Arduino Uno / ATmega328P  |  AES measurement → AVR assembly</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15</a:t>
            </a:r>
          </a:p>
        </p:txBody>
      </p:sp>
      <p:sp>
        <p:nvSpPr>
          <p:cNvPr id="9" name="Rounded Rectangle 8"/>
          <p:cNvSpPr/>
          <p:nvPr/>
        </p:nvSpPr>
        <p:spPr>
          <a:xfrm>
            <a:off x="804672" y="2606040"/>
            <a:ext cx="3218688" cy="164592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4672" y="2606040"/>
            <a:ext cx="54864" cy="164592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734056"/>
            <a:ext cx="2871216"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measurement.S</a:t>
            </a:r>
          </a:p>
        </p:txBody>
      </p:sp>
      <p:sp>
        <p:nvSpPr>
          <p:cNvPr id="12" name="TextBox 11"/>
          <p:cNvSpPr txBox="1"/>
          <p:nvPr/>
        </p:nvSpPr>
        <p:spPr>
          <a:xfrm>
            <a:off x="987552" y="3227832"/>
            <a:ext cx="2871216" cy="987552"/>
          </a:xfrm>
          <a:prstGeom prst="rect">
            <a:avLst/>
          </a:prstGeom>
          <a:noFill/>
        </p:spPr>
        <p:txBody>
          <a:bodyPr wrap="none" lIns="13716" rIns="13716" tIns="13716" bIns="13716">
            <a:spAutoFit/>
          </a:bodyPr>
          <a:lstStyle/>
          <a:p>
            <a:pPr>
              <a:lnSpc>
                <a:spcPct val="116000"/>
              </a:lnSpc>
              <a:spcBef>
                <a:spcPts val="0"/>
              </a:spcBef>
              <a:spcAft>
                <a:spcPts val="400"/>
              </a:spcAft>
            </a:pPr>
            <a:r>
              <a:rPr sz="1710" b="0" lang="ja-JP">
                <a:solidFill>
                  <a:srgbClr val="183244"/>
                </a:solidFill>
                <a:latin typeface="Noto Sans CJK JP"/>
                <a:ea typeface="Noto Sans CJK JP"/>
              </a:rPr>
              <a:t>AES・乱数・平文生成</a:t>
            </a:r>
          </a:p>
          <a:p>
            <a:pPr>
              <a:lnSpc>
                <a:spcPct val="116000"/>
              </a:lnSpc>
              <a:spcBef>
                <a:spcPts val="0"/>
              </a:spcBef>
              <a:spcAft>
                <a:spcPts val="400"/>
              </a:spcAft>
            </a:pPr>
            <a:r>
              <a:rPr sz="1710" b="0" lang="ja-JP">
                <a:solidFill>
                  <a:srgbClr val="183244"/>
                </a:solidFill>
                <a:latin typeface="Noto Sans CJK JP"/>
                <a:ea typeface="Noto Sans CJK JP"/>
              </a:rPr>
              <a:t>繰り返し・再開・ログ順序</a:t>
            </a:r>
          </a:p>
        </p:txBody>
      </p:sp>
      <p:sp>
        <p:nvSpPr>
          <p:cNvPr id="13" name="Right Arrow 12"/>
          <p:cNvSpPr/>
          <p:nvPr/>
        </p:nvSpPr>
        <p:spPr>
          <a:xfrm>
            <a:off x="4169663" y="3282696"/>
            <a:ext cx="429768" cy="256032"/>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736592" y="2606040"/>
            <a:ext cx="2852928" cy="16459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36592" y="2606040"/>
            <a:ext cx="54864" cy="164592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19472" y="2734056"/>
            <a:ext cx="2505456"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.ino の接続関数</a:t>
            </a:r>
          </a:p>
        </p:txBody>
      </p:sp>
      <p:sp>
        <p:nvSpPr>
          <p:cNvPr id="17" name="TextBox 16"/>
          <p:cNvSpPr txBox="1"/>
          <p:nvPr/>
        </p:nvSpPr>
        <p:spPr>
          <a:xfrm>
            <a:off x="4919472" y="3227832"/>
            <a:ext cx="2505456" cy="987552"/>
          </a:xfrm>
          <a:prstGeom prst="rect">
            <a:avLst/>
          </a:prstGeom>
          <a:noFill/>
        </p:spPr>
        <p:txBody>
          <a:bodyPr wrap="none" lIns="13716" rIns="13716" tIns="13716" bIns="13716">
            <a:spAutoFit/>
          </a:bodyPr>
          <a:lstStyle/>
          <a:p>
            <a:pPr>
              <a:lnSpc>
                <a:spcPct val="116000"/>
              </a:lnSpc>
              <a:spcBef>
                <a:spcPts val="0"/>
              </a:spcBef>
              <a:spcAft>
                <a:spcPts val="400"/>
              </a:spcAft>
            </a:pPr>
            <a:r>
              <a:rPr sz="1989" b="0" lang="ja-JP">
                <a:solidFill>
                  <a:srgbClr val="183244"/>
                </a:solidFill>
                <a:latin typeface="Noto Sans CJK JP"/>
                <a:ea typeface="Noto Sans CJK JP"/>
              </a:rPr>
              <a:t>アセンブリから</a:t>
            </a:r>
          </a:p>
          <a:p>
            <a:pPr>
              <a:lnSpc>
                <a:spcPct val="116000"/>
              </a:lnSpc>
              <a:spcBef>
                <a:spcPts val="0"/>
              </a:spcBef>
              <a:spcAft>
                <a:spcPts val="400"/>
              </a:spcAft>
            </a:pPr>
            <a:r>
              <a:rPr sz="1989" b="0" lang="ja-JP">
                <a:solidFill>
                  <a:srgbClr val="183244"/>
                </a:solidFill>
                <a:latin typeface="Noto Sans CJK JP"/>
                <a:ea typeface="Noto Sans CJK JP"/>
              </a:rPr>
              <a:t>標準機能を呼ぶ窓口</a:t>
            </a:r>
          </a:p>
        </p:txBody>
      </p:sp>
      <p:sp>
        <p:nvSpPr>
          <p:cNvPr id="18" name="Right Arrow 17"/>
          <p:cNvSpPr/>
          <p:nvPr/>
        </p:nvSpPr>
        <p:spPr>
          <a:xfrm>
            <a:off x="7763256" y="3282696"/>
            <a:ext cx="429768" cy="256032"/>
          </a:xfrm>
          <a:prstGeom prst="rightArrow">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48472" y="2606040"/>
            <a:ext cx="3063240" cy="16459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48472" y="2606040"/>
            <a:ext cx="54864" cy="164592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31352" y="2734056"/>
            <a:ext cx="2715768" cy="384048"/>
          </a:xfrm>
          <a:prstGeom prst="rect">
            <a:avLst/>
          </a:prstGeom>
          <a:noFill/>
        </p:spPr>
        <p:txBody>
          <a:bodyPr wrap="none" lIns="13716" rIns="13716" tIns="13716" bIns="13716">
            <a:spAutoFit/>
          </a:bodyPr>
          <a:lstStyle/>
          <a:p>
            <a:pPr>
              <a:lnSpc>
                <a:spcPct val="116000"/>
              </a:lnSpc>
              <a:spcBef>
                <a:spcPts val="0"/>
              </a:spcBef>
              <a:spcAft>
                <a:spcPts val="400"/>
              </a:spcAft>
            </a:pPr>
            <a:r>
              <a:rPr sz="2300" b="1" lang="ja-JP">
                <a:solidFill>
                  <a:srgbClr val="007F78"/>
                </a:solidFill>
                <a:latin typeface="Noto Sans CJK JP"/>
                <a:ea typeface="Noto Sans CJK JP"/>
              </a:rPr>
              <a:t>Arduino Core</a:t>
            </a:r>
          </a:p>
        </p:txBody>
      </p:sp>
      <p:sp>
        <p:nvSpPr>
          <p:cNvPr id="22" name="TextBox 21"/>
          <p:cNvSpPr txBox="1"/>
          <p:nvPr/>
        </p:nvSpPr>
        <p:spPr>
          <a:xfrm>
            <a:off x="8531352" y="3227832"/>
            <a:ext cx="2715768" cy="987552"/>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Serial / digitalWrite</a:t>
            </a:r>
          </a:p>
          <a:p>
            <a:pPr>
              <a:lnSpc>
                <a:spcPct val="116000"/>
              </a:lnSpc>
              <a:spcBef>
                <a:spcPts val="0"/>
              </a:spcBef>
              <a:spcAft>
                <a:spcPts val="400"/>
              </a:spcAft>
            </a:pPr>
            <a:r>
              <a:rPr sz="2000" b="0" lang="ja-JP">
                <a:solidFill>
                  <a:srgbClr val="183244"/>
                </a:solidFill>
                <a:latin typeface="Noto Sans CJK JP"/>
                <a:ea typeface="Noto Sans CJK JP"/>
              </a:rPr>
              <a:t>pinMode / delay</a:t>
            </a:r>
          </a:p>
        </p:txBody>
      </p:sp>
      <p:sp>
        <p:nvSpPr>
          <p:cNvPr id="23" name="Rounded Rectangle 22"/>
          <p:cNvSpPr/>
          <p:nvPr/>
        </p:nvSpPr>
        <p:spPr>
          <a:xfrm>
            <a:off x="868680" y="4736592"/>
            <a:ext cx="4572000" cy="976503"/>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 y="4846320"/>
            <a:ext cx="4169663" cy="256032"/>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8FBCB7"/>
                </a:solidFill>
                <a:latin typeface="Noto Sans CJK JP"/>
                <a:ea typeface="Noto Sans CJK JP"/>
              </a:rPr>
              <a:t>アセンブリ側</a:t>
            </a:r>
          </a:p>
        </p:txBody>
      </p:sp>
      <p:sp>
        <p:nvSpPr>
          <p:cNvPr id="25" name="TextBox 24"/>
          <p:cNvSpPr txBox="1"/>
          <p:nvPr/>
        </p:nvSpPr>
        <p:spPr>
          <a:xfrm>
            <a:off x="1078992" y="5239512"/>
            <a:ext cx="4151376" cy="362204"/>
          </a:xfrm>
          <a:prstGeom prst="rect">
            <a:avLst/>
          </a:prstGeom>
          <a:noFill/>
        </p:spPr>
        <p:txBody>
          <a:bodyPr wrap="none" lIns="13716" rIns="13716" tIns="13716" bIns="13716">
            <a:spAutoFit/>
          </a:bodyPr>
          <a:lstStyle/>
          <a:p>
            <a:pPr>
              <a:lnSpc>
                <a:spcPct val="116000"/>
              </a:lnSpc>
              <a:spcBef>
                <a:spcPts val="0"/>
              </a:spcBef>
              <a:spcAft>
                <a:spcPts val="400"/>
              </a:spcAft>
            </a:pPr>
            <a:r>
              <a:rPr sz="2300" b="0" lang="ja-JP">
                <a:solidFill>
                  <a:srgbClr val="EAF3F1"/>
                </a:solidFill>
                <a:latin typeface="DejaVu Sans Mono"/>
                <a:ea typeface="Noto Sans CJK JP"/>
              </a:rPr>
              <a:t>call fw_trigger_high</a:t>
            </a:r>
          </a:p>
        </p:txBody>
      </p:sp>
      <p:sp>
        <p:nvSpPr>
          <p:cNvPr id="26" name="Rounded Rectangle 25"/>
          <p:cNvSpPr/>
          <p:nvPr/>
        </p:nvSpPr>
        <p:spPr>
          <a:xfrm>
            <a:off x="5897880" y="4736592"/>
            <a:ext cx="5422392" cy="1553337"/>
          </a:xfrm>
          <a:prstGeom prst="roundRect">
            <a:avLst>
              <a:gd name="adj" fmla="val 12000"/>
            </a:avLst>
          </a:prstGeom>
          <a:solidFill>
            <a:srgbClr val="132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9048" y="4846320"/>
            <a:ext cx="5020055" cy="256032"/>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8FBCB7"/>
                </a:solidFill>
                <a:latin typeface="Noto Sans CJK JP"/>
                <a:ea typeface="Noto Sans CJK JP"/>
              </a:rPr>
              <a:t>接続用 .ino 側</a:t>
            </a:r>
          </a:p>
        </p:txBody>
      </p:sp>
      <p:sp>
        <p:nvSpPr>
          <p:cNvPr id="28" name="TextBox 27"/>
          <p:cNvSpPr txBox="1"/>
          <p:nvPr/>
        </p:nvSpPr>
        <p:spPr>
          <a:xfrm>
            <a:off x="6108192" y="5239512"/>
            <a:ext cx="5001768" cy="299212"/>
          </a:xfrm>
          <a:prstGeom prst="rect">
            <a:avLst/>
          </a:prstGeom>
          <a:noFill/>
        </p:spPr>
        <p:txBody>
          <a:bodyPr wrap="none" lIns="13716" rIns="13716" tIns="13716" bIns="13716">
            <a:spAutoFit/>
          </a:bodyPr>
          <a:lstStyle/>
          <a:p>
            <a:pPr>
              <a:lnSpc>
                <a:spcPct val="116000"/>
              </a:lnSpc>
              <a:spcBef>
                <a:spcPts val="0"/>
              </a:spcBef>
              <a:spcAft>
                <a:spcPts val="400"/>
              </a:spcAft>
            </a:pPr>
            <a:r>
              <a:rPr sz="1900" b="0" lang="ja-JP">
                <a:solidFill>
                  <a:srgbClr val="EAF3F1"/>
                </a:solidFill>
                <a:latin typeface="DejaVu Sans Mono"/>
                <a:ea typeface="Noto Sans CJK JP"/>
              </a:rPr>
              <a:t>void fw_trigger_high() {</a:t>
            </a:r>
          </a:p>
        </p:txBody>
      </p:sp>
      <p:sp>
        <p:nvSpPr>
          <p:cNvPr id="29" name="TextBox 28"/>
          <p:cNvSpPr txBox="1"/>
          <p:nvPr/>
        </p:nvSpPr>
        <p:spPr>
          <a:xfrm>
            <a:off x="6108192" y="5559171"/>
            <a:ext cx="5001768" cy="299212"/>
          </a:xfrm>
          <a:prstGeom prst="rect">
            <a:avLst/>
          </a:prstGeom>
          <a:noFill/>
        </p:spPr>
        <p:txBody>
          <a:bodyPr wrap="none" lIns="13716" rIns="13716" tIns="13716" bIns="13716">
            <a:spAutoFit/>
          </a:bodyPr>
          <a:lstStyle/>
          <a:p>
            <a:pPr>
              <a:lnSpc>
                <a:spcPct val="116000"/>
              </a:lnSpc>
              <a:spcBef>
                <a:spcPts val="0"/>
              </a:spcBef>
              <a:spcAft>
                <a:spcPts val="400"/>
              </a:spcAft>
            </a:pPr>
            <a:r>
              <a:rPr sz="1900" b="0" lang="ja-JP">
                <a:solidFill>
                  <a:srgbClr val="EAF3F1"/>
                </a:solidFill>
                <a:latin typeface="DejaVu Sans Mono"/>
                <a:ea typeface="Noto Sans CJK JP"/>
              </a:rPr>
              <a:t>  digitalWrite(5, HIGH);</a:t>
            </a:r>
          </a:p>
        </p:txBody>
      </p:sp>
      <p:sp>
        <p:nvSpPr>
          <p:cNvPr id="30" name="TextBox 29"/>
          <p:cNvSpPr txBox="1"/>
          <p:nvPr/>
        </p:nvSpPr>
        <p:spPr>
          <a:xfrm>
            <a:off x="6108192" y="5878830"/>
            <a:ext cx="5001768" cy="299212"/>
          </a:xfrm>
          <a:prstGeom prst="rect">
            <a:avLst/>
          </a:prstGeom>
          <a:noFill/>
        </p:spPr>
        <p:txBody>
          <a:bodyPr wrap="none" lIns="13716" rIns="13716" tIns="13716" bIns="13716">
            <a:spAutoFit/>
          </a:bodyPr>
          <a:lstStyle/>
          <a:p>
            <a:pPr>
              <a:lnSpc>
                <a:spcPct val="116000"/>
              </a:lnSpc>
              <a:spcBef>
                <a:spcPts val="0"/>
              </a:spcBef>
              <a:spcAft>
                <a:spcPts val="400"/>
              </a:spcAft>
            </a:pPr>
            <a:r>
              <a:rPr sz="1900" b="0" lang="ja-JP">
                <a:solidFill>
                  <a:srgbClr val="EAF3F1"/>
                </a:solidFill>
                <a:latin typeface="DejaVu Sans Mono"/>
                <a:ea typeface="Noto Sans CJK JP"/>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5 / 機能の一致と測定波形</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維持したのは、処理結果と測定の手順</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命令列が変わるため、実行時間・トリガー幅・消費電力波形は変わります。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Arduino Uno / ATmega328P  |  AES measurement → AVR assembly</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16</a:t>
            </a:r>
          </a:p>
        </p:txBody>
      </p:sp>
      <p:sp>
        <p:nvSpPr>
          <p:cNvPr id="9" name="Rounded Rectangle 8"/>
          <p:cNvSpPr/>
          <p:nvPr/>
        </p:nvSpPr>
        <p:spPr>
          <a:xfrm>
            <a:off x="822960" y="2615184"/>
            <a:ext cx="1965960" cy="777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825496"/>
            <a:ext cx="1837943" cy="310896"/>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Noto Sans CJK JP"/>
                <a:ea typeface="Noto Sans CJK JP"/>
              </a:rPr>
              <a:t>state へコピー</a:t>
            </a:r>
          </a:p>
        </p:txBody>
      </p:sp>
      <p:sp>
        <p:nvSpPr>
          <p:cNvPr id="11" name="Rounded Rectangle 10"/>
          <p:cNvSpPr/>
          <p:nvPr/>
        </p:nvSpPr>
        <p:spPr>
          <a:xfrm>
            <a:off x="3035808" y="2615184"/>
            <a:ext cx="1874519" cy="777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99815" y="2825496"/>
            <a:ext cx="1746503" cy="310896"/>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Noto Sans CJK JP"/>
                <a:ea typeface="Noto Sans CJK JP"/>
              </a:rPr>
              <a:t>D5 HIGH</a:t>
            </a:r>
          </a:p>
        </p:txBody>
      </p:sp>
      <p:sp>
        <p:nvSpPr>
          <p:cNvPr id="13" name="Rounded Rectangle 12"/>
          <p:cNvSpPr/>
          <p:nvPr/>
        </p:nvSpPr>
        <p:spPr>
          <a:xfrm>
            <a:off x="5157216" y="2615184"/>
            <a:ext cx="2057400" cy="777240"/>
          </a:xfrm>
          <a:prstGeom prst="roundRect">
            <a:avLst>
              <a:gd name="adj" fmla="val 12000"/>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21224" y="2825496"/>
            <a:ext cx="1929384" cy="310896"/>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Noto Sans CJK JP"/>
                <a:ea typeface="Noto Sans CJK JP"/>
              </a:rPr>
              <a:t>AES 計算</a:t>
            </a:r>
          </a:p>
        </p:txBody>
      </p:sp>
      <p:sp>
        <p:nvSpPr>
          <p:cNvPr id="15" name="Rounded Rectangle 14"/>
          <p:cNvSpPr/>
          <p:nvPr/>
        </p:nvSpPr>
        <p:spPr>
          <a:xfrm>
            <a:off x="7461504" y="2615184"/>
            <a:ext cx="1874519" cy="777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25512" y="2825496"/>
            <a:ext cx="1746503" cy="310896"/>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Noto Sans CJK JP"/>
                <a:ea typeface="Noto Sans CJK JP"/>
              </a:rPr>
              <a:t>D5 LOW</a:t>
            </a:r>
          </a:p>
        </p:txBody>
      </p:sp>
      <p:sp>
        <p:nvSpPr>
          <p:cNvPr id="17" name="Rounded Rectangle 16"/>
          <p:cNvSpPr/>
          <p:nvPr/>
        </p:nvSpPr>
        <p:spPr>
          <a:xfrm>
            <a:off x="9582912" y="2615184"/>
            <a:ext cx="2057400" cy="777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46920" y="2825496"/>
            <a:ext cx="1929384" cy="310896"/>
          </a:xfrm>
          <a:prstGeom prst="rect">
            <a:avLst/>
          </a:prstGeom>
          <a:noFill/>
        </p:spPr>
        <p:txBody>
          <a:bodyPr wrap="none" lIns="13716" rIns="13716" tIns="13716" bIns="13716">
            <a:spAutoFit/>
          </a:bodyPr>
          <a:lstStyle/>
          <a:p>
            <a:pPr algn="ctr">
              <a:lnSpc>
                <a:spcPct val="116000"/>
              </a:lnSpc>
              <a:spcBef>
                <a:spcPts val="0"/>
              </a:spcBef>
              <a:spcAft>
                <a:spcPts val="400"/>
              </a:spcAft>
            </a:pPr>
            <a:r>
              <a:rPr sz="2000" b="1" lang="ja-JP">
                <a:solidFill>
                  <a:srgbClr val="007F78"/>
                </a:solidFill>
                <a:latin typeface="Noto Sans CJK JP"/>
                <a:ea typeface="Noto Sans CJK JP"/>
              </a:rPr>
              <a:t>10 ms 待機</a:t>
            </a:r>
          </a:p>
        </p:txBody>
      </p:sp>
      <p:sp>
        <p:nvSpPr>
          <p:cNvPr id="19" name="TextBox 18"/>
          <p:cNvSpPr txBox="1"/>
          <p:nvPr/>
        </p:nvSpPr>
        <p:spPr>
          <a:xfrm>
            <a:off x="932688" y="3986783"/>
            <a:ext cx="2423160" cy="457200"/>
          </a:xfrm>
          <a:prstGeom prst="rect">
            <a:avLst/>
          </a:prstGeom>
          <a:noFill/>
        </p:spPr>
        <p:txBody>
          <a:bodyPr wrap="none" lIns="13716" rIns="13716" tIns="13716" bIns="13716">
            <a:spAutoFit/>
          </a:bodyPr>
          <a:lstStyle/>
          <a:p>
            <a:pPr>
              <a:lnSpc>
                <a:spcPct val="116000"/>
              </a:lnSpc>
              <a:spcBef>
                <a:spcPts val="0"/>
              </a:spcBef>
              <a:spcAft>
                <a:spcPts val="400"/>
              </a:spcAft>
            </a:pPr>
            <a:r>
              <a:rPr sz="2200" b="0" lang="ja-JP">
                <a:solidFill>
                  <a:srgbClr val="183244"/>
                </a:solidFill>
                <a:latin typeface="Noto Sans CJK JP"/>
                <a:ea typeface="Noto Sans CJK JP"/>
              </a:rPr>
              <a:t>元コード</a:t>
            </a:r>
          </a:p>
        </p:txBody>
      </p:sp>
      <p:cxnSp>
        <p:nvCxnSpPr>
          <p:cNvPr id="20" name="Connector 19"/>
          <p:cNvCxnSpPr/>
          <p:nvPr/>
        </p:nvCxnSpPr>
        <p:spPr>
          <a:xfrm>
            <a:off x="3474720" y="4169663"/>
            <a:ext cx="822960" cy="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297680" y="3666744"/>
            <a:ext cx="0" cy="502919"/>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297680" y="3666744"/>
            <a:ext cx="2331720" cy="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629400" y="3666744"/>
            <a:ext cx="0" cy="502919"/>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629400" y="4169663"/>
            <a:ext cx="3154680" cy="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32688" y="4919472"/>
            <a:ext cx="2423160" cy="457200"/>
          </a:xfrm>
          <a:prstGeom prst="rect">
            <a:avLst/>
          </a:prstGeom>
          <a:noFill/>
        </p:spPr>
        <p:txBody>
          <a:bodyPr wrap="none" lIns="13716" rIns="13716" tIns="13716" bIns="13716">
            <a:spAutoFit/>
          </a:bodyPr>
          <a:lstStyle/>
          <a:p>
            <a:pPr>
              <a:lnSpc>
                <a:spcPct val="116000"/>
              </a:lnSpc>
              <a:spcBef>
                <a:spcPts val="0"/>
              </a:spcBef>
              <a:spcAft>
                <a:spcPts val="400"/>
              </a:spcAft>
            </a:pPr>
            <a:r>
              <a:rPr sz="2200" b="0" lang="ja-JP">
                <a:solidFill>
                  <a:srgbClr val="183244"/>
                </a:solidFill>
                <a:latin typeface="Noto Sans CJK JP"/>
                <a:ea typeface="Noto Sans CJK JP"/>
              </a:rPr>
              <a:t>アセンブリ版</a:t>
            </a:r>
          </a:p>
        </p:txBody>
      </p:sp>
      <p:cxnSp>
        <p:nvCxnSpPr>
          <p:cNvPr id="26" name="Connector 25"/>
          <p:cNvCxnSpPr/>
          <p:nvPr/>
        </p:nvCxnSpPr>
        <p:spPr>
          <a:xfrm>
            <a:off x="3474720" y="5102352"/>
            <a:ext cx="822960" cy="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297680" y="4599432"/>
            <a:ext cx="0" cy="50292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297680" y="4599432"/>
            <a:ext cx="1325880" cy="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623560" y="4599432"/>
            <a:ext cx="0" cy="50292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623560" y="5102352"/>
            <a:ext cx="4160520" cy="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96112" y="5897880"/>
            <a:ext cx="10424160" cy="274320"/>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61727D"/>
                </a:solidFill>
                <a:latin typeface="Noto Sans CJK JP"/>
                <a:ea typeface="Noto Sans CJK JP"/>
              </a:rPr>
              <a:t>模式図（実測値ではありません）。速度向上・実波形の一致は、今回の検証では主張しません。</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6 / 一致を確かめる</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元コードとの比較と、別実装で結果を確認</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以下は AVR シミュレータでの検証です。物理的な Uno と実波形は未検証です。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根拠：tests/run.py、tests/check.py、build/asm-test/stats.json、build/uno/stats.json</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17</a:t>
            </a:r>
          </a:p>
        </p:txBody>
      </p:sp>
      <p:sp>
        <p:nvSpPr>
          <p:cNvPr id="9" name="Rounded Rectangle 8"/>
          <p:cNvSpPr/>
          <p:nvPr/>
        </p:nvSpPr>
        <p:spPr>
          <a:xfrm>
            <a:off x="822960" y="2651760"/>
            <a:ext cx="3081528" cy="1828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852928"/>
            <a:ext cx="2770632" cy="640080"/>
          </a:xfrm>
          <a:prstGeom prst="rect">
            <a:avLst/>
          </a:prstGeom>
          <a:noFill/>
        </p:spPr>
        <p:txBody>
          <a:bodyPr wrap="none" lIns="13716" rIns="13716" tIns="13716" bIns="13716">
            <a:spAutoFit/>
          </a:bodyPr>
          <a:lstStyle/>
          <a:p>
            <a:pPr>
              <a:lnSpc>
                <a:spcPct val="116000"/>
              </a:lnSpc>
              <a:spcBef>
                <a:spcPts val="0"/>
              </a:spcBef>
              <a:spcAft>
                <a:spcPts val="400"/>
              </a:spcAft>
            </a:pPr>
            <a:r>
              <a:rPr sz="3800" b="1" lang="ja-JP">
                <a:solidFill>
                  <a:srgbClr val="007F78"/>
                </a:solidFill>
                <a:latin typeface="Noto Sans CJK JP"/>
                <a:ea typeface="Noto Sans CJK JP"/>
              </a:rPr>
              <a:t>5,500</a:t>
            </a:r>
          </a:p>
        </p:txBody>
      </p:sp>
      <p:sp>
        <p:nvSpPr>
          <p:cNvPr id="11" name="TextBox 10"/>
          <p:cNvSpPr txBox="1"/>
          <p:nvPr/>
        </p:nvSpPr>
        <p:spPr>
          <a:xfrm>
            <a:off x="996696" y="3630168"/>
            <a:ext cx="2724912" cy="320040"/>
          </a:xfrm>
          <a:prstGeom prst="rect">
            <a:avLst/>
          </a:prstGeom>
          <a:noFill/>
        </p:spPr>
        <p:txBody>
          <a:bodyPr wrap="none" lIns="13716" rIns="13716" tIns="13716" bIns="13716">
            <a:spAutoFit/>
          </a:bodyPr>
          <a:lstStyle/>
          <a:p>
            <a:pPr>
              <a:lnSpc>
                <a:spcPct val="116000"/>
              </a:lnSpc>
              <a:spcBef>
                <a:spcPts val="0"/>
              </a:spcBef>
              <a:spcAft>
                <a:spcPts val="400"/>
              </a:spcAft>
            </a:pPr>
            <a:r>
              <a:rPr sz="2200" b="1" lang="ja-JP">
                <a:solidFill>
                  <a:srgbClr val="183244"/>
                </a:solidFill>
                <a:latin typeface="Noto Sans CJK JP"/>
                <a:ea typeface="Noto Sans CJK JP"/>
              </a:rPr>
              <a:t>平文</a:t>
            </a:r>
          </a:p>
        </p:txBody>
      </p:sp>
      <p:sp>
        <p:nvSpPr>
          <p:cNvPr id="12" name="TextBox 11"/>
          <p:cNvSpPr txBox="1"/>
          <p:nvPr/>
        </p:nvSpPr>
        <p:spPr>
          <a:xfrm>
            <a:off x="987552" y="4078224"/>
            <a:ext cx="2761488" cy="237744"/>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61727D"/>
                </a:solidFill>
                <a:latin typeface="Noto Sans CJK JP"/>
                <a:ea typeface="Noto Sans CJK JP"/>
              </a:rPr>
              <a:t>全5000 ＋ リセット後500</a:t>
            </a:r>
          </a:p>
        </p:txBody>
      </p:sp>
      <p:sp>
        <p:nvSpPr>
          <p:cNvPr id="13" name="Rounded Rectangle 12"/>
          <p:cNvSpPr/>
          <p:nvPr/>
        </p:nvSpPr>
        <p:spPr>
          <a:xfrm>
            <a:off x="4562856" y="2651760"/>
            <a:ext cx="3081528" cy="1828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18304" y="2852928"/>
            <a:ext cx="2770632" cy="640080"/>
          </a:xfrm>
          <a:prstGeom prst="rect">
            <a:avLst/>
          </a:prstGeom>
          <a:noFill/>
        </p:spPr>
        <p:txBody>
          <a:bodyPr wrap="none" lIns="13716" rIns="13716" tIns="13716" bIns="13716">
            <a:spAutoFit/>
          </a:bodyPr>
          <a:lstStyle/>
          <a:p>
            <a:pPr>
              <a:lnSpc>
                <a:spcPct val="116000"/>
              </a:lnSpc>
              <a:spcBef>
                <a:spcPts val="0"/>
              </a:spcBef>
              <a:spcAft>
                <a:spcPts val="400"/>
              </a:spcAft>
            </a:pPr>
            <a:r>
              <a:rPr sz="3800" b="1" lang="ja-JP">
                <a:solidFill>
                  <a:srgbClr val="007F78"/>
                </a:solidFill>
                <a:latin typeface="Noto Sans CJK JP"/>
                <a:ea typeface="Noto Sans CJK JP"/>
              </a:rPr>
              <a:t>55,000</a:t>
            </a:r>
          </a:p>
        </p:txBody>
      </p:sp>
      <p:sp>
        <p:nvSpPr>
          <p:cNvPr id="15" name="TextBox 14"/>
          <p:cNvSpPr txBox="1"/>
          <p:nvPr/>
        </p:nvSpPr>
        <p:spPr>
          <a:xfrm>
            <a:off x="4736592" y="3630168"/>
            <a:ext cx="2724912" cy="320040"/>
          </a:xfrm>
          <a:prstGeom prst="rect">
            <a:avLst/>
          </a:prstGeom>
          <a:noFill/>
        </p:spPr>
        <p:txBody>
          <a:bodyPr wrap="none" lIns="13716" rIns="13716" tIns="13716" bIns="13716">
            <a:spAutoFit/>
          </a:bodyPr>
          <a:lstStyle/>
          <a:p>
            <a:pPr>
              <a:lnSpc>
                <a:spcPct val="116000"/>
              </a:lnSpc>
              <a:spcBef>
                <a:spcPts val="0"/>
              </a:spcBef>
              <a:spcAft>
                <a:spcPts val="400"/>
              </a:spcAft>
            </a:pPr>
            <a:r>
              <a:rPr sz="2200" b="1" lang="ja-JP">
                <a:solidFill>
                  <a:srgbClr val="183244"/>
                </a:solidFill>
                <a:latin typeface="Noto Sans CJK JP"/>
                <a:ea typeface="Noto Sans CJK JP"/>
              </a:rPr>
              <a:t>パルス</a:t>
            </a:r>
          </a:p>
        </p:txBody>
      </p:sp>
      <p:sp>
        <p:nvSpPr>
          <p:cNvPr id="16" name="TextBox 15"/>
          <p:cNvSpPr txBox="1"/>
          <p:nvPr/>
        </p:nvSpPr>
        <p:spPr>
          <a:xfrm>
            <a:off x="4727448" y="4078224"/>
            <a:ext cx="2761488" cy="237744"/>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61727D"/>
                </a:solidFill>
                <a:latin typeface="Noto Sans CJK JP"/>
                <a:ea typeface="Noto Sans CJK JP"/>
              </a:rPr>
              <a:t>各平文を10回測定</a:t>
            </a:r>
          </a:p>
        </p:txBody>
      </p:sp>
      <p:sp>
        <p:nvSpPr>
          <p:cNvPr id="17" name="Rounded Rectangle 16"/>
          <p:cNvSpPr/>
          <p:nvPr/>
        </p:nvSpPr>
        <p:spPr>
          <a:xfrm>
            <a:off x="8302752" y="2651760"/>
            <a:ext cx="3081528" cy="1828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2852928"/>
            <a:ext cx="2770632" cy="640080"/>
          </a:xfrm>
          <a:prstGeom prst="rect">
            <a:avLst/>
          </a:prstGeom>
          <a:noFill/>
        </p:spPr>
        <p:txBody>
          <a:bodyPr wrap="none" lIns="13716" rIns="13716" tIns="13716" bIns="13716">
            <a:spAutoFit/>
          </a:bodyPr>
          <a:lstStyle/>
          <a:p>
            <a:pPr>
              <a:lnSpc>
                <a:spcPct val="116000"/>
              </a:lnSpc>
              <a:spcBef>
                <a:spcPts val="0"/>
              </a:spcBef>
              <a:spcAft>
                <a:spcPts val="400"/>
              </a:spcAft>
            </a:pPr>
            <a:r>
              <a:rPr sz="3800" b="1" lang="ja-JP">
                <a:solidFill>
                  <a:srgbClr val="007F78"/>
                </a:solidFill>
                <a:latin typeface="Noto Sans CJK JP"/>
                <a:ea typeface="Noto Sans CJK JP"/>
              </a:rPr>
              <a:t>60,500</a:t>
            </a:r>
          </a:p>
        </p:txBody>
      </p:sp>
      <p:sp>
        <p:nvSpPr>
          <p:cNvPr id="19" name="TextBox 18"/>
          <p:cNvSpPr txBox="1"/>
          <p:nvPr/>
        </p:nvSpPr>
        <p:spPr>
          <a:xfrm>
            <a:off x="8476488" y="3630168"/>
            <a:ext cx="2724912" cy="320040"/>
          </a:xfrm>
          <a:prstGeom prst="rect">
            <a:avLst/>
          </a:prstGeom>
          <a:noFill/>
        </p:spPr>
        <p:txBody>
          <a:bodyPr wrap="none" lIns="13716" rIns="13716" tIns="13716" bIns="13716">
            <a:spAutoFit/>
          </a:bodyPr>
          <a:lstStyle/>
          <a:p>
            <a:pPr>
              <a:lnSpc>
                <a:spcPct val="116000"/>
              </a:lnSpc>
              <a:spcBef>
                <a:spcPts val="0"/>
              </a:spcBef>
              <a:spcAft>
                <a:spcPts val="400"/>
              </a:spcAft>
            </a:pPr>
            <a:r>
              <a:rPr sz="2200" b="1" lang="ja-JP">
                <a:solidFill>
                  <a:srgbClr val="183244"/>
                </a:solidFill>
                <a:latin typeface="Noto Sans CJK JP"/>
                <a:ea typeface="Noto Sans CJK JP"/>
              </a:rPr>
              <a:t>待機要求</a:t>
            </a:r>
          </a:p>
        </p:txBody>
      </p:sp>
      <p:sp>
        <p:nvSpPr>
          <p:cNvPr id="20" name="TextBox 19"/>
          <p:cNvSpPr txBox="1"/>
          <p:nvPr/>
        </p:nvSpPr>
        <p:spPr>
          <a:xfrm>
            <a:off x="8467344" y="4078224"/>
            <a:ext cx="2761488" cy="237744"/>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61727D"/>
                </a:solidFill>
                <a:latin typeface="Noto Sans CJK JP"/>
                <a:ea typeface="Noto Sans CJK JP"/>
              </a:rPr>
              <a:t>すべて delay(10)</a:t>
            </a:r>
          </a:p>
        </p:txBody>
      </p:sp>
      <p:sp>
        <p:nvSpPr>
          <p:cNvPr id="21" name="TextBox 20"/>
          <p:cNvSpPr txBox="1"/>
          <p:nvPr/>
        </p:nvSpPr>
        <p:spPr>
          <a:xfrm>
            <a:off x="914400" y="4846320"/>
            <a:ext cx="10378440" cy="1115568"/>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一致：ログ全文、各パルスの入力・出力、乱数列、再開・リセット</a:t>
            </a:r>
          </a:p>
          <a:p>
            <a:pPr>
              <a:lnSpc>
                <a:spcPct val="116000"/>
              </a:lnSpc>
              <a:spcBef>
                <a:spcPts val="0"/>
              </a:spcBef>
              <a:spcAft>
                <a:spcPts val="400"/>
              </a:spcAft>
            </a:pPr>
            <a:r>
              <a:rPr sz="2000" b="0" lang="ja-JP">
                <a:solidFill>
                  <a:srgbClr val="183244"/>
                </a:solidFill>
                <a:latin typeface="Noto Sans CJK JP"/>
                <a:ea typeface="Noto Sans CJK JP"/>
              </a:rPr>
              <a:t>追加確認：独立した Python 実装でも AES の結果を照合</a:t>
            </a:r>
          </a:p>
          <a:p>
            <a:pPr>
              <a:lnSpc>
                <a:spcPct val="116000"/>
              </a:lnSpc>
              <a:spcBef>
                <a:spcPts val="0"/>
              </a:spcBef>
              <a:spcAft>
                <a:spcPts val="400"/>
              </a:spcAft>
            </a:pPr>
            <a:r>
              <a:rPr sz="2000" b="0" lang="ja-JP">
                <a:solidFill>
                  <a:srgbClr val="183244"/>
                </a:solidFill>
                <a:latin typeface="Noto Sans CJK JP"/>
                <a:ea typeface="Noto Sans CJK JP"/>
              </a:rPr>
              <a:t>実機用バイナリ：最初の平文で10パルス、待機の最短間隔は約10.019 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STEP 6 / 報告と読み進め方</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「何を・どう・なぜ」で説明できるようにする</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報告資料に使える説明例と、ソースを読む順番です。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Arduino Uno / ATmega328P  |  AES measurement → AVR assembly</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18</a:t>
            </a:r>
          </a:p>
        </p:txBody>
      </p:sp>
      <p:sp>
        <p:nvSpPr>
          <p:cNvPr id="9" name="Rounded Rectangle 8"/>
          <p:cNvSpPr/>
          <p:nvPr/>
        </p:nvSpPr>
        <p:spPr>
          <a:xfrm>
            <a:off x="832104" y="2468880"/>
            <a:ext cx="10543032" cy="868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2624328"/>
            <a:ext cx="2039112" cy="329184"/>
          </a:xfrm>
          <a:prstGeom prst="rect">
            <a:avLst/>
          </a:prstGeom>
          <a:noFill/>
        </p:spPr>
        <p:txBody>
          <a:bodyPr wrap="none" lIns="13716" rIns="13716" tIns="13716" bIns="13716">
            <a:spAutoFit/>
          </a:bodyPr>
          <a:lstStyle/>
          <a:p>
            <a:pPr>
              <a:lnSpc>
                <a:spcPct val="116000"/>
              </a:lnSpc>
              <a:spcBef>
                <a:spcPts val="0"/>
              </a:spcBef>
              <a:spcAft>
                <a:spcPts val="400"/>
              </a:spcAft>
            </a:pPr>
            <a:r>
              <a:rPr sz="2000" b="1" lang="ja-JP">
                <a:solidFill>
                  <a:srgbClr val="007F78"/>
                </a:solidFill>
                <a:latin typeface="Noto Sans CJK JP"/>
                <a:ea typeface="Noto Sans CJK JP"/>
              </a:rPr>
              <a:t>何を変えたか</a:t>
            </a:r>
          </a:p>
        </p:txBody>
      </p:sp>
      <p:sp>
        <p:nvSpPr>
          <p:cNvPr id="11" name="TextBox 10"/>
          <p:cNvSpPr txBox="1"/>
          <p:nvPr/>
        </p:nvSpPr>
        <p:spPr>
          <a:xfrm>
            <a:off x="3246120" y="2651760"/>
            <a:ext cx="7845552" cy="320040"/>
          </a:xfrm>
          <a:prstGeom prst="rect">
            <a:avLst/>
          </a:prstGeom>
          <a:noFill/>
        </p:spPr>
        <p:txBody>
          <a:bodyPr wrap="none" lIns="13716" rIns="13716" tIns="13716" bIns="13716">
            <a:spAutoFit/>
          </a:bodyPr>
          <a:lstStyle/>
          <a:p>
            <a:pPr>
              <a:lnSpc>
                <a:spcPct val="116000"/>
              </a:lnSpc>
              <a:spcBef>
                <a:spcPts val="0"/>
              </a:spcBef>
              <a:spcAft>
                <a:spcPts val="400"/>
              </a:spcAft>
            </a:pPr>
            <a:r>
              <a:rPr sz="1960" b="0" lang="ja-JP">
                <a:solidFill>
                  <a:srgbClr val="183244"/>
                </a:solidFill>
                <a:latin typeface="Noto Sans CJK JP"/>
                <a:ea typeface="Noto Sans CJK JP"/>
              </a:rPr>
              <a:t>AES・乱数生成・測定の進行管理を、AVR アセンブリへ移した。</a:t>
            </a:r>
          </a:p>
        </p:txBody>
      </p:sp>
      <p:sp>
        <p:nvSpPr>
          <p:cNvPr id="12" name="Rounded Rectangle 11"/>
          <p:cNvSpPr/>
          <p:nvPr/>
        </p:nvSpPr>
        <p:spPr>
          <a:xfrm>
            <a:off x="832104" y="3493008"/>
            <a:ext cx="10543032" cy="868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1" y="3648456"/>
            <a:ext cx="2039112" cy="329184"/>
          </a:xfrm>
          <a:prstGeom prst="rect">
            <a:avLst/>
          </a:prstGeom>
          <a:noFill/>
        </p:spPr>
        <p:txBody>
          <a:bodyPr wrap="none" lIns="13716" rIns="13716" tIns="13716" bIns="13716">
            <a:spAutoFit/>
          </a:bodyPr>
          <a:lstStyle/>
          <a:p>
            <a:pPr>
              <a:lnSpc>
                <a:spcPct val="116000"/>
              </a:lnSpc>
              <a:spcBef>
                <a:spcPts val="0"/>
              </a:spcBef>
              <a:spcAft>
                <a:spcPts val="400"/>
              </a:spcAft>
            </a:pPr>
            <a:r>
              <a:rPr sz="2000" b="1" lang="ja-JP">
                <a:solidFill>
                  <a:srgbClr val="007F78"/>
                </a:solidFill>
                <a:latin typeface="Noto Sans CJK JP"/>
                <a:ea typeface="Noto Sans CJK JP"/>
              </a:rPr>
              <a:t>どう変えたか</a:t>
            </a:r>
          </a:p>
        </p:txBody>
      </p:sp>
      <p:sp>
        <p:nvSpPr>
          <p:cNvPr id="14" name="TextBox 13"/>
          <p:cNvSpPr txBox="1"/>
          <p:nvPr/>
        </p:nvSpPr>
        <p:spPr>
          <a:xfrm>
            <a:off x="3246120" y="3675887"/>
            <a:ext cx="7845552" cy="320040"/>
          </a:xfrm>
          <a:prstGeom prst="rect">
            <a:avLst/>
          </a:prstGeom>
          <a:noFill/>
        </p:spPr>
        <p:txBody>
          <a:bodyPr wrap="none" lIns="13716" rIns="13716" tIns="13716" bIns="13716">
            <a:spAutoFit/>
          </a:bodyPr>
          <a:lstStyle/>
          <a:p>
            <a:pPr>
              <a:lnSpc>
                <a:spcPct val="116000"/>
              </a:lnSpc>
              <a:spcBef>
                <a:spcPts val="0"/>
              </a:spcBef>
              <a:spcAft>
                <a:spcPts val="400"/>
              </a:spcAft>
            </a:pPr>
            <a:r>
              <a:rPr sz="1950" b="0" lang="ja-JP">
                <a:solidFill>
                  <a:srgbClr val="183244"/>
                </a:solidFill>
                <a:latin typeface="Noto Sans CJK JP"/>
                <a:ea typeface="Noto Sans CJK JP"/>
              </a:rPr>
              <a:t>C++ の処理を、読み込み・計算・保存・分岐の命令へ分解した。</a:t>
            </a:r>
          </a:p>
        </p:txBody>
      </p:sp>
      <p:sp>
        <p:nvSpPr>
          <p:cNvPr id="15" name="Rounded Rectangle 14"/>
          <p:cNvSpPr/>
          <p:nvPr/>
        </p:nvSpPr>
        <p:spPr>
          <a:xfrm>
            <a:off x="832104" y="4517136"/>
            <a:ext cx="10543032" cy="8686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3271" y="4672584"/>
            <a:ext cx="2039112" cy="329184"/>
          </a:xfrm>
          <a:prstGeom prst="rect">
            <a:avLst/>
          </a:prstGeom>
          <a:noFill/>
        </p:spPr>
        <p:txBody>
          <a:bodyPr wrap="none" lIns="13716" rIns="13716" tIns="13716" bIns="13716">
            <a:spAutoFit/>
          </a:bodyPr>
          <a:lstStyle/>
          <a:p>
            <a:pPr>
              <a:lnSpc>
                <a:spcPct val="116000"/>
              </a:lnSpc>
              <a:spcBef>
                <a:spcPts val="0"/>
              </a:spcBef>
              <a:spcAft>
                <a:spcPts val="400"/>
              </a:spcAft>
            </a:pPr>
            <a:r>
              <a:rPr sz="2000" b="1" lang="ja-JP">
                <a:solidFill>
                  <a:srgbClr val="007F78"/>
                </a:solidFill>
                <a:latin typeface="Noto Sans CJK JP"/>
                <a:ea typeface="Noto Sans CJK JP"/>
              </a:rPr>
              <a:t>なぜその形か</a:t>
            </a:r>
          </a:p>
        </p:txBody>
      </p:sp>
      <p:sp>
        <p:nvSpPr>
          <p:cNvPr id="17" name="TextBox 16"/>
          <p:cNvSpPr txBox="1"/>
          <p:nvPr/>
        </p:nvSpPr>
        <p:spPr>
          <a:xfrm>
            <a:off x="3246120" y="4700016"/>
            <a:ext cx="7845552" cy="320040"/>
          </a:xfrm>
          <a:prstGeom prst="rect">
            <a:avLst/>
          </a:prstGeom>
          <a:noFill/>
        </p:spPr>
        <p:txBody>
          <a:bodyPr wrap="none" lIns="13716" rIns="13716" tIns="13716" bIns="13716">
            <a:spAutoFit/>
          </a:bodyPr>
          <a:lstStyle/>
          <a:p>
            <a:pPr>
              <a:lnSpc>
                <a:spcPct val="116000"/>
              </a:lnSpc>
              <a:spcBef>
                <a:spcPts val="0"/>
              </a:spcBef>
              <a:spcAft>
                <a:spcPts val="400"/>
              </a:spcAft>
            </a:pPr>
            <a:r>
              <a:rPr sz="2000" b="0" lang="ja-JP">
                <a:solidFill>
                  <a:srgbClr val="183244"/>
                </a:solidFill>
                <a:latin typeface="Noto Sans CJK JP"/>
                <a:ea typeface="Noto Sans CJK JP"/>
              </a:rPr>
              <a:t>Uno の8ビットCPUで実行する操作を、明示できる形にした。</a:t>
            </a:r>
          </a:p>
        </p:txBody>
      </p:sp>
      <p:sp>
        <p:nvSpPr>
          <p:cNvPr id="18" name="TextBox 17"/>
          <p:cNvSpPr txBox="1"/>
          <p:nvPr/>
        </p:nvSpPr>
        <p:spPr>
          <a:xfrm>
            <a:off x="914400" y="5760720"/>
            <a:ext cx="10378440" cy="329184"/>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61727D"/>
                </a:solidFill>
                <a:latin typeface="Noto Sans CJK JP"/>
                <a:ea typeface="Noto Sans CJK JP"/>
              </a:rPr>
              <a:t>読む順番：execute_aes_std_asm → add_round_key_asm → 他の演算 → measurement_loop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APPENDIX A / 命令の早見表</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最初は、この12種類を見分ける</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意味はこの資料のコードでの使い方に合わせています。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Arduino Uno / ATmega328P  |  AES measurement → AVR assembly</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19</a:t>
            </a:r>
          </a:p>
        </p:txBody>
      </p:sp>
      <p:sp>
        <p:nvSpPr>
          <p:cNvPr id="9" name="Rounded Rectangle 8"/>
          <p:cNvSpPr/>
          <p:nvPr/>
        </p:nvSpPr>
        <p:spPr>
          <a:xfrm>
            <a:off x="841248" y="2496312"/>
            <a:ext cx="506577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560320"/>
            <a:ext cx="1755648" cy="274320"/>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ldi</a:t>
            </a:r>
          </a:p>
        </p:txBody>
      </p:sp>
      <p:sp>
        <p:nvSpPr>
          <p:cNvPr id="11" name="TextBox 10"/>
          <p:cNvSpPr txBox="1"/>
          <p:nvPr/>
        </p:nvSpPr>
        <p:spPr>
          <a:xfrm>
            <a:off x="2807208" y="2551176"/>
            <a:ext cx="2971800" cy="292608"/>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数値を直接入れる</a:t>
            </a:r>
          </a:p>
        </p:txBody>
      </p:sp>
      <p:sp>
        <p:nvSpPr>
          <p:cNvPr id="12" name="Rounded Rectangle 11"/>
          <p:cNvSpPr/>
          <p:nvPr/>
        </p:nvSpPr>
        <p:spPr>
          <a:xfrm>
            <a:off x="841248" y="3035808"/>
            <a:ext cx="506577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099815"/>
            <a:ext cx="1755648" cy="274320"/>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ld / lds</a:t>
            </a:r>
          </a:p>
        </p:txBody>
      </p:sp>
      <p:sp>
        <p:nvSpPr>
          <p:cNvPr id="14" name="TextBox 13"/>
          <p:cNvSpPr txBox="1"/>
          <p:nvPr/>
        </p:nvSpPr>
        <p:spPr>
          <a:xfrm>
            <a:off x="2807208" y="3090672"/>
            <a:ext cx="2971800" cy="292608"/>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SRAM の値を読む</a:t>
            </a:r>
          </a:p>
        </p:txBody>
      </p:sp>
      <p:sp>
        <p:nvSpPr>
          <p:cNvPr id="15" name="Rounded Rectangle 14"/>
          <p:cNvSpPr/>
          <p:nvPr/>
        </p:nvSpPr>
        <p:spPr>
          <a:xfrm>
            <a:off x="841248" y="3575304"/>
            <a:ext cx="506577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639312"/>
            <a:ext cx="1755648" cy="274320"/>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st / sts</a:t>
            </a:r>
          </a:p>
        </p:txBody>
      </p:sp>
      <p:sp>
        <p:nvSpPr>
          <p:cNvPr id="17" name="TextBox 16"/>
          <p:cNvSpPr txBox="1"/>
          <p:nvPr/>
        </p:nvSpPr>
        <p:spPr>
          <a:xfrm>
            <a:off x="2807208" y="3630168"/>
            <a:ext cx="2971800" cy="292608"/>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SRAM に値を保存する</a:t>
            </a:r>
          </a:p>
        </p:txBody>
      </p:sp>
      <p:sp>
        <p:nvSpPr>
          <p:cNvPr id="18" name="Rounded Rectangle 17"/>
          <p:cNvSpPr/>
          <p:nvPr/>
        </p:nvSpPr>
        <p:spPr>
          <a:xfrm>
            <a:off x="841248" y="4114800"/>
            <a:ext cx="506577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178808"/>
            <a:ext cx="1755648" cy="274320"/>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lpm</a:t>
            </a:r>
          </a:p>
        </p:txBody>
      </p:sp>
      <p:sp>
        <p:nvSpPr>
          <p:cNvPr id="20" name="TextBox 19"/>
          <p:cNvSpPr txBox="1"/>
          <p:nvPr/>
        </p:nvSpPr>
        <p:spPr>
          <a:xfrm>
            <a:off x="2807208" y="4169663"/>
            <a:ext cx="2971800" cy="292608"/>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フラッシュの値を読む</a:t>
            </a:r>
          </a:p>
        </p:txBody>
      </p:sp>
      <p:sp>
        <p:nvSpPr>
          <p:cNvPr id="21" name="Rounded Rectangle 20"/>
          <p:cNvSpPr/>
          <p:nvPr/>
        </p:nvSpPr>
        <p:spPr>
          <a:xfrm>
            <a:off x="841248" y="4654296"/>
            <a:ext cx="506577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718304"/>
            <a:ext cx="1755648" cy="274320"/>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mov / movw</a:t>
            </a:r>
          </a:p>
        </p:txBody>
      </p:sp>
      <p:sp>
        <p:nvSpPr>
          <p:cNvPr id="23" name="TextBox 22"/>
          <p:cNvSpPr txBox="1"/>
          <p:nvPr/>
        </p:nvSpPr>
        <p:spPr>
          <a:xfrm>
            <a:off x="2807208" y="4709159"/>
            <a:ext cx="2971800" cy="292608"/>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値をコピーする</a:t>
            </a:r>
          </a:p>
        </p:txBody>
      </p:sp>
      <p:sp>
        <p:nvSpPr>
          <p:cNvPr id="24" name="Rounded Rectangle 23"/>
          <p:cNvSpPr/>
          <p:nvPr/>
        </p:nvSpPr>
        <p:spPr>
          <a:xfrm>
            <a:off x="841248" y="5193792"/>
            <a:ext cx="506577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257800"/>
            <a:ext cx="1755648" cy="274320"/>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eor</a:t>
            </a:r>
          </a:p>
        </p:txBody>
      </p:sp>
      <p:sp>
        <p:nvSpPr>
          <p:cNvPr id="26" name="TextBox 25"/>
          <p:cNvSpPr txBox="1"/>
          <p:nvPr/>
        </p:nvSpPr>
        <p:spPr>
          <a:xfrm>
            <a:off x="2807208" y="5248655"/>
            <a:ext cx="2971800" cy="292608"/>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XOR を計算する</a:t>
            </a:r>
          </a:p>
        </p:txBody>
      </p:sp>
      <p:sp>
        <p:nvSpPr>
          <p:cNvPr id="27" name="Rounded Rectangle 26"/>
          <p:cNvSpPr/>
          <p:nvPr/>
        </p:nvSpPr>
        <p:spPr>
          <a:xfrm>
            <a:off x="6464808" y="2496312"/>
            <a:ext cx="506577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2560320"/>
            <a:ext cx="1755648" cy="274320"/>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lsl / rol</a:t>
            </a:r>
          </a:p>
        </p:txBody>
      </p:sp>
      <p:sp>
        <p:nvSpPr>
          <p:cNvPr id="29" name="TextBox 28"/>
          <p:cNvSpPr txBox="1"/>
          <p:nvPr/>
        </p:nvSpPr>
        <p:spPr>
          <a:xfrm>
            <a:off x="8430768" y="2551176"/>
            <a:ext cx="2971800" cy="292608"/>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左シフト・桁を引き継ぐ</a:t>
            </a:r>
          </a:p>
        </p:txBody>
      </p:sp>
      <p:sp>
        <p:nvSpPr>
          <p:cNvPr id="30" name="Rounded Rectangle 29"/>
          <p:cNvSpPr/>
          <p:nvPr/>
        </p:nvSpPr>
        <p:spPr>
          <a:xfrm>
            <a:off x="6464808" y="3035808"/>
            <a:ext cx="506577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3099815"/>
            <a:ext cx="1755648" cy="274320"/>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cpi / cp</a:t>
            </a:r>
          </a:p>
        </p:txBody>
      </p:sp>
      <p:sp>
        <p:nvSpPr>
          <p:cNvPr id="32" name="TextBox 31"/>
          <p:cNvSpPr txBox="1"/>
          <p:nvPr/>
        </p:nvSpPr>
        <p:spPr>
          <a:xfrm>
            <a:off x="8430768" y="3090672"/>
            <a:ext cx="2971800" cy="292608"/>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値を比較する</a:t>
            </a:r>
          </a:p>
        </p:txBody>
      </p:sp>
      <p:sp>
        <p:nvSpPr>
          <p:cNvPr id="33" name="Rounded Rectangle 32"/>
          <p:cNvSpPr/>
          <p:nvPr/>
        </p:nvSpPr>
        <p:spPr>
          <a:xfrm>
            <a:off x="6464808" y="3575304"/>
            <a:ext cx="506577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3639312"/>
            <a:ext cx="1755648" cy="274320"/>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dec / inc</a:t>
            </a:r>
          </a:p>
        </p:txBody>
      </p:sp>
      <p:sp>
        <p:nvSpPr>
          <p:cNvPr id="35" name="TextBox 34"/>
          <p:cNvSpPr txBox="1"/>
          <p:nvPr/>
        </p:nvSpPr>
        <p:spPr>
          <a:xfrm>
            <a:off x="8430768" y="3630168"/>
            <a:ext cx="2971800" cy="292608"/>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1 減らす・1 増やす</a:t>
            </a:r>
          </a:p>
        </p:txBody>
      </p:sp>
      <p:sp>
        <p:nvSpPr>
          <p:cNvPr id="36" name="Rounded Rectangle 35"/>
          <p:cNvSpPr/>
          <p:nvPr/>
        </p:nvSpPr>
        <p:spPr>
          <a:xfrm>
            <a:off x="6464808" y="4114800"/>
            <a:ext cx="506577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4178808"/>
            <a:ext cx="1755648" cy="274320"/>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breq / brne</a:t>
            </a:r>
          </a:p>
        </p:txBody>
      </p:sp>
      <p:sp>
        <p:nvSpPr>
          <p:cNvPr id="38" name="TextBox 37"/>
          <p:cNvSpPr txBox="1"/>
          <p:nvPr/>
        </p:nvSpPr>
        <p:spPr>
          <a:xfrm>
            <a:off x="8430768" y="4169663"/>
            <a:ext cx="2971800" cy="292608"/>
          </a:xfrm>
          <a:prstGeom prst="rect">
            <a:avLst/>
          </a:prstGeom>
          <a:noFill/>
        </p:spPr>
        <p:txBody>
          <a:bodyPr wrap="none" lIns="13716" rIns="13716" tIns="13716" bIns="13716">
            <a:spAutoFit/>
          </a:bodyPr>
          <a:lstStyle/>
          <a:p>
            <a:pPr>
              <a:lnSpc>
                <a:spcPct val="116000"/>
              </a:lnSpc>
              <a:spcBef>
                <a:spcPts val="0"/>
              </a:spcBef>
              <a:spcAft>
                <a:spcPts val="400"/>
              </a:spcAft>
            </a:pPr>
            <a:r>
              <a:rPr sz="1630" b="0" lang="ja-JP">
                <a:solidFill>
                  <a:srgbClr val="183244"/>
                </a:solidFill>
                <a:latin typeface="Noto Sans CJK JP"/>
                <a:ea typeface="Noto Sans CJK JP"/>
              </a:rPr>
              <a:t>等しい・等しくないとき分岐</a:t>
            </a:r>
          </a:p>
        </p:txBody>
      </p:sp>
      <p:sp>
        <p:nvSpPr>
          <p:cNvPr id="39" name="Rounded Rectangle 38"/>
          <p:cNvSpPr/>
          <p:nvPr/>
        </p:nvSpPr>
        <p:spPr>
          <a:xfrm>
            <a:off x="6464808" y="4654296"/>
            <a:ext cx="506577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0" y="4718304"/>
            <a:ext cx="1755648" cy="274320"/>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call / ret</a:t>
            </a:r>
          </a:p>
        </p:txBody>
      </p:sp>
      <p:sp>
        <p:nvSpPr>
          <p:cNvPr id="41" name="TextBox 40"/>
          <p:cNvSpPr txBox="1"/>
          <p:nvPr/>
        </p:nvSpPr>
        <p:spPr>
          <a:xfrm>
            <a:off x="8430768" y="4709159"/>
            <a:ext cx="2971800" cy="292608"/>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関数を呼ぶ・戻る</a:t>
            </a:r>
          </a:p>
        </p:txBody>
      </p:sp>
      <p:sp>
        <p:nvSpPr>
          <p:cNvPr id="42" name="Rounded Rectangle 41"/>
          <p:cNvSpPr/>
          <p:nvPr/>
        </p:nvSpPr>
        <p:spPr>
          <a:xfrm>
            <a:off x="6464808" y="5193792"/>
            <a:ext cx="5065776" cy="4480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0" y="5257800"/>
            <a:ext cx="1755648" cy="274320"/>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push / pop</a:t>
            </a:r>
          </a:p>
        </p:txBody>
      </p:sp>
      <p:sp>
        <p:nvSpPr>
          <p:cNvPr id="44" name="TextBox 43"/>
          <p:cNvSpPr txBox="1"/>
          <p:nvPr/>
        </p:nvSpPr>
        <p:spPr>
          <a:xfrm>
            <a:off x="8430768" y="5248655"/>
            <a:ext cx="2971800" cy="292608"/>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値を一時退避・取り出す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APPENDIX B / 記号と呼び出しの約束</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ドット・ラベル・退避も、役割を分けて読む</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CPU が実行する命令と、プログラムを組み立てる指定が混在します。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Arduino Uno / ATmega328P  |  AES measurement → AVR assembly</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20</a:t>
            </a:r>
          </a:p>
        </p:txBody>
      </p:sp>
      <p:sp>
        <p:nvSpPr>
          <p:cNvPr id="9" name="Rounded Rectangle 8"/>
          <p:cNvSpPr/>
          <p:nvPr/>
        </p:nvSpPr>
        <p:spPr>
          <a:xfrm>
            <a:off x="859536" y="2468880"/>
            <a:ext cx="10515600"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78608"/>
            <a:ext cx="3246120" cy="310896"/>
          </a:xfrm>
          <a:prstGeom prst="rect">
            <a:avLst/>
          </a:prstGeom>
          <a:noFill/>
        </p:spPr>
        <p:txBody>
          <a:bodyPr wrap="none" lIns="13716" rIns="13716" tIns="13716" bIns="13716">
            <a:spAutoFit/>
          </a:bodyPr>
          <a:lstStyle/>
          <a:p>
            <a:pPr>
              <a:lnSpc>
                <a:spcPct val="116000"/>
              </a:lnSpc>
              <a:spcBef>
                <a:spcPts val="0"/>
              </a:spcBef>
              <a:spcAft>
                <a:spcPts val="400"/>
              </a:spcAft>
            </a:pPr>
            <a:r>
              <a:rPr sz="1700" b="1" lang="ja-JP">
                <a:solidFill>
                  <a:srgbClr val="007F78"/>
                </a:solidFill>
                <a:latin typeface="DejaVu Sans Mono"/>
                <a:ea typeface="Noto Sans CJK JP"/>
              </a:rPr>
              <a:t>.equ / .byte / .section</a:t>
            </a:r>
          </a:p>
        </p:txBody>
      </p:sp>
      <p:sp>
        <p:nvSpPr>
          <p:cNvPr id="11" name="TextBox 10"/>
          <p:cNvSpPr txBox="1"/>
          <p:nvPr/>
        </p:nvSpPr>
        <p:spPr>
          <a:xfrm>
            <a:off x="4507992" y="2587752"/>
            <a:ext cx="6583680" cy="301752"/>
          </a:xfrm>
          <a:prstGeom prst="rect">
            <a:avLst/>
          </a:prstGeom>
          <a:noFill/>
        </p:spPr>
        <p:txBody>
          <a:bodyPr wrap="none" lIns="13716" rIns="13716" tIns="13716" bIns="13716">
            <a:spAutoFit/>
          </a:bodyPr>
          <a:lstStyle/>
          <a:p>
            <a:pPr>
              <a:lnSpc>
                <a:spcPct val="116000"/>
              </a:lnSpc>
              <a:spcBef>
                <a:spcPts val="0"/>
              </a:spcBef>
              <a:spcAft>
                <a:spcPts val="400"/>
              </a:spcAft>
            </a:pPr>
            <a:r>
              <a:rPr sz="1670" b="0" lang="ja-JP">
                <a:solidFill>
                  <a:srgbClr val="183244"/>
                </a:solidFill>
                <a:latin typeface="Noto Sans CJK JP"/>
                <a:ea typeface="Noto Sans CJK JP"/>
              </a:rPr>
              <a:t>定数・データ・配置先を指定する。CPU の演算命令ではない。</a:t>
            </a:r>
          </a:p>
        </p:txBody>
      </p:sp>
      <p:sp>
        <p:nvSpPr>
          <p:cNvPr id="12" name="Rounded Rectangle 11"/>
          <p:cNvSpPr/>
          <p:nvPr/>
        </p:nvSpPr>
        <p:spPr>
          <a:xfrm>
            <a:off x="859536" y="3145536"/>
            <a:ext cx="10515600"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255264"/>
            <a:ext cx="3246120" cy="310896"/>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label: / 1b / 2f</a:t>
            </a:r>
          </a:p>
        </p:txBody>
      </p:sp>
      <p:sp>
        <p:nvSpPr>
          <p:cNvPr id="14" name="TextBox 13"/>
          <p:cNvSpPr txBox="1"/>
          <p:nvPr/>
        </p:nvSpPr>
        <p:spPr>
          <a:xfrm>
            <a:off x="4507992" y="3264408"/>
            <a:ext cx="6583680" cy="301752"/>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処理の目印。b は後方、f は前方の同じ番号のラベルを指す。</a:t>
            </a:r>
          </a:p>
        </p:txBody>
      </p:sp>
      <p:sp>
        <p:nvSpPr>
          <p:cNvPr id="15" name="Rounded Rectangle 14"/>
          <p:cNvSpPr/>
          <p:nvPr/>
        </p:nvSpPr>
        <p:spPr>
          <a:xfrm>
            <a:off x="859536" y="3822191"/>
            <a:ext cx="10515600"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931920"/>
            <a:ext cx="3246120" cy="310896"/>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lo8(...) / hi8(...)</a:t>
            </a:r>
          </a:p>
        </p:txBody>
      </p:sp>
      <p:sp>
        <p:nvSpPr>
          <p:cNvPr id="17" name="TextBox 16"/>
          <p:cNvSpPr txBox="1"/>
          <p:nvPr/>
        </p:nvSpPr>
        <p:spPr>
          <a:xfrm>
            <a:off x="4507992" y="3941063"/>
            <a:ext cx="6583680" cy="301752"/>
          </a:xfrm>
          <a:prstGeom prst="rect">
            <a:avLst/>
          </a:prstGeom>
          <a:noFill/>
        </p:spPr>
        <p:txBody>
          <a:bodyPr wrap="none" lIns="13716" rIns="13716" tIns="13716" bIns="13716">
            <a:spAutoFit/>
          </a:bodyPr>
          <a:lstStyle/>
          <a:p>
            <a:pPr>
              <a:lnSpc>
                <a:spcPct val="116000"/>
              </a:lnSpc>
              <a:spcBef>
                <a:spcPts val="0"/>
              </a:spcBef>
              <a:spcAft>
                <a:spcPts val="400"/>
              </a:spcAft>
            </a:pPr>
            <a:r>
              <a:rPr sz="1670" b="0" lang="ja-JP">
                <a:solidFill>
                  <a:srgbClr val="183244"/>
                </a:solidFill>
                <a:latin typeface="Noto Sans CJK JP"/>
                <a:ea typeface="Noto Sans CJK JP"/>
              </a:rPr>
              <a:t>16ビットのアドレスを、下位8ビット・上位8ビットに分ける。</a:t>
            </a:r>
          </a:p>
        </p:txBody>
      </p:sp>
      <p:sp>
        <p:nvSpPr>
          <p:cNvPr id="18" name="Rounded Rectangle 17"/>
          <p:cNvSpPr/>
          <p:nvPr/>
        </p:nvSpPr>
        <p:spPr>
          <a:xfrm>
            <a:off x="859536" y="4498848"/>
            <a:ext cx="10515600"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608576"/>
            <a:ext cx="3246120" cy="310896"/>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push / pop</a:t>
            </a:r>
          </a:p>
        </p:txBody>
      </p:sp>
      <p:sp>
        <p:nvSpPr>
          <p:cNvPr id="20" name="TextBox 19"/>
          <p:cNvSpPr txBox="1"/>
          <p:nvPr/>
        </p:nvSpPr>
        <p:spPr>
          <a:xfrm>
            <a:off x="4507992" y="4617720"/>
            <a:ext cx="6583680" cy="301752"/>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関数呼び出しで変わり得る値を退避し、逆順に取り戻す。</a:t>
            </a:r>
          </a:p>
        </p:txBody>
      </p:sp>
      <p:sp>
        <p:nvSpPr>
          <p:cNvPr id="21" name="Rounded Rectangle 20"/>
          <p:cNvSpPr/>
          <p:nvPr/>
        </p:nvSpPr>
        <p:spPr>
          <a:xfrm>
            <a:off x="859536" y="5175504"/>
            <a:ext cx="10515600" cy="5669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285232"/>
            <a:ext cx="3246120" cy="310896"/>
          </a:xfrm>
          <a:prstGeom prst="rect">
            <a:avLst/>
          </a:prstGeom>
          <a:noFill/>
        </p:spPr>
        <p:txBody>
          <a:bodyPr wrap="none" lIns="13716" rIns="13716" tIns="13716" bIns="13716">
            <a:spAutoFit/>
          </a:bodyPr>
          <a:lstStyle/>
          <a:p>
            <a:pPr>
              <a:lnSpc>
                <a:spcPct val="116000"/>
              </a:lnSpc>
              <a:spcBef>
                <a:spcPts val="0"/>
              </a:spcBef>
              <a:spcAft>
                <a:spcPts val="400"/>
              </a:spcAft>
            </a:pPr>
            <a:r>
              <a:rPr sz="1800" b="1" lang="ja-JP">
                <a:solidFill>
                  <a:srgbClr val="007F78"/>
                </a:solidFill>
                <a:latin typeface="DejaVu Sans Mono"/>
                <a:ea typeface="Noto Sans CJK JP"/>
              </a:rPr>
              <a:t>r1 = 0 / r24 など</a:t>
            </a:r>
          </a:p>
        </p:txBody>
      </p:sp>
      <p:sp>
        <p:nvSpPr>
          <p:cNvPr id="23" name="TextBox 22"/>
          <p:cNvSpPr txBox="1"/>
          <p:nvPr/>
        </p:nvSpPr>
        <p:spPr>
          <a:xfrm>
            <a:off x="4507992" y="5294376"/>
            <a:ext cx="6583680" cy="301752"/>
          </a:xfrm>
          <a:prstGeom prst="rect">
            <a:avLst/>
          </a:prstGeom>
          <a:noFill/>
        </p:spPr>
        <p:txBody>
          <a:bodyPr wrap="none" lIns="13716" rIns="13716" tIns="13716" bIns="13716">
            <a:spAutoFit/>
          </a:bodyPr>
          <a:lstStyle/>
          <a:p>
            <a:pPr>
              <a:lnSpc>
                <a:spcPct val="116000"/>
              </a:lnSpc>
              <a:spcBef>
                <a:spcPts val="0"/>
              </a:spcBef>
              <a:spcAft>
                <a:spcPts val="400"/>
              </a:spcAft>
            </a:pPr>
            <a:r>
              <a:rPr sz="1700" b="0" lang="ja-JP">
                <a:solidFill>
                  <a:srgbClr val="183244"/>
                </a:solidFill>
                <a:latin typeface="Noto Sans CJK JP"/>
                <a:ea typeface="Noto Sans CJK JP"/>
              </a:rPr>
              <a:t>Arduino とつなぐため、AVR GCC の呼び出し規約に従う。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Rectangle 1"/>
          <p:cNvSpPr/>
          <p:nvPr/>
        </p:nvSpPr>
        <p:spPr>
          <a:xfrm>
            <a:off x="411480" y="320040"/>
            <a:ext cx="109728" cy="292608"/>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01752"/>
            <a:ext cx="10789920" cy="292608"/>
          </a:xfrm>
          <a:prstGeom prst="rect">
            <a:avLst/>
          </a:prstGeom>
          <a:noFill/>
        </p:spPr>
        <p:txBody>
          <a:bodyPr wrap="none" lIns="13716" rIns="13716" tIns="13716" bIns="13716">
            <a:spAutoFit/>
          </a:bodyPr>
          <a:lstStyle/>
          <a:p>
            <a:pPr>
              <a:lnSpc>
                <a:spcPct val="116000"/>
              </a:lnSpc>
              <a:spcBef>
                <a:spcPts val="0"/>
              </a:spcBef>
              <a:spcAft>
                <a:spcPts val="400"/>
              </a:spcAft>
            </a:pPr>
            <a:r>
              <a:rPr sz="1200" b="1" lang="ja-JP">
                <a:solidFill>
                  <a:srgbClr val="007F78"/>
                </a:solidFill>
                <a:latin typeface="Noto Sans CJK JP"/>
                <a:ea typeface="Noto Sans CJK JP"/>
              </a:rPr>
              <a:t>APPENDIX C / ソースと根拠</a:t>
            </a:r>
          </a:p>
        </p:txBody>
      </p:sp>
      <p:sp>
        <p:nvSpPr>
          <p:cNvPr id="4" name="TextBox 3"/>
          <p:cNvSpPr txBox="1"/>
          <p:nvPr/>
        </p:nvSpPr>
        <p:spPr>
          <a:xfrm>
            <a:off x="658368" y="877824"/>
            <a:ext cx="10881360" cy="685800"/>
          </a:xfrm>
          <a:prstGeom prst="rect">
            <a:avLst/>
          </a:prstGeom>
          <a:noFill/>
        </p:spPr>
        <p:txBody>
          <a:bodyPr wrap="none" lIns="13716" rIns="13716" tIns="13716" bIns="13716">
            <a:spAutoFit/>
          </a:bodyPr>
          <a:lstStyle/>
          <a:p>
            <a:pPr>
              <a:lnSpc>
                <a:spcPct val="116000"/>
              </a:lnSpc>
              <a:spcBef>
                <a:spcPts val="0"/>
              </a:spcBef>
              <a:spcAft>
                <a:spcPts val="400"/>
              </a:spcAft>
            </a:pPr>
            <a:r>
              <a:rPr sz="3300" b="1" lang="ja-JP">
                <a:solidFill>
                  <a:srgbClr val="183244"/>
                </a:solidFill>
                <a:latin typeface="Noto Sans CJK JP"/>
                <a:ea typeface="Noto Sans CJK JP"/>
              </a:rPr>
              <a:t>元コードとアセンブリを、同じ処理で探す</a:t>
            </a:r>
          </a:p>
        </p:txBody>
      </p:sp>
      <p:sp>
        <p:nvSpPr>
          <p:cNvPr id="5" name="TextBox 4"/>
          <p:cNvSpPr txBox="1"/>
          <p:nvPr/>
        </p:nvSpPr>
        <p:spPr>
          <a:xfrm>
            <a:off x="685800" y="1673352"/>
            <a:ext cx="10789920" cy="457200"/>
          </a:xfrm>
          <a:prstGeom prst="rect">
            <a:avLst/>
          </a:prstGeom>
          <a:noFill/>
        </p:spPr>
        <p:txBody>
          <a:bodyPr wrap="none" lIns="13716" rIns="13716" tIns="13716" bIns="13716">
            <a:spAutoFit/>
          </a:bodyPr>
          <a:lstStyle/>
          <a:p>
            <a:pPr>
              <a:lnSpc>
                <a:spcPct val="116000"/>
              </a:lnSpc>
              <a:spcBef>
                <a:spcPts val="0"/>
              </a:spcBef>
              <a:spcAft>
                <a:spcPts val="400"/>
              </a:spcAft>
            </a:pPr>
            <a:r>
              <a:rPr sz="1800" b="0" lang="ja-JP">
                <a:solidFill>
                  <a:srgbClr val="61727D"/>
                </a:solidFill>
                <a:latin typeface="Noto Sans CJK JP"/>
                <a:ea typeface="Noto Sans CJK JP"/>
              </a:rPr>
              <a:t>行番号は今回作成したファイルのものです。</a:t>
            </a:r>
          </a:p>
        </p:txBody>
      </p:sp>
      <p:cxnSp>
        <p:nvCxnSpPr>
          <p:cNvPr id="6" name="Connector 5"/>
          <p:cNvCxnSpPr/>
          <p:nvPr/>
        </p:nvCxnSpPr>
        <p:spPr>
          <a:xfrm>
            <a:off x="658368" y="6382512"/>
            <a:ext cx="10881360" cy="0"/>
          </a:xfrm>
          <a:prstGeom prst="line">
            <a:avLst/>
          </a:prstGeom>
          <a:ln w="12700">
            <a:solidFill>
              <a:srgbClr val="D8DFD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73952"/>
            <a:ext cx="10058400" cy="182880"/>
          </a:xfrm>
          <a:prstGeom prst="rect">
            <a:avLst/>
          </a:prstGeom>
          <a:noFill/>
        </p:spPr>
        <p:txBody>
          <a:bodyPr wrap="none" lIns="13716" rIns="13716" tIns="13716" bIns="13716">
            <a:spAutoFit/>
          </a:bodyPr>
          <a:lstStyle/>
          <a:p>
            <a:pPr>
              <a:lnSpc>
                <a:spcPct val="116000"/>
              </a:lnSpc>
              <a:spcBef>
                <a:spcPts val="0"/>
              </a:spcBef>
              <a:spcAft>
                <a:spcPts val="400"/>
              </a:spcAft>
            </a:pPr>
            <a:r>
              <a:rPr sz="900" b="0" lang="ja-JP">
                <a:solidFill>
                  <a:srgbClr val="61727D"/>
                </a:solidFill>
                <a:latin typeface="Noto Sans CJK JP"/>
                <a:ea typeface="Noto Sans CJK JP"/>
              </a:rPr>
              <a:t>Arduino Uno / ATmega328P  |  AES measurement → AVR assembly</a:t>
            </a:r>
          </a:p>
        </p:txBody>
      </p:sp>
      <p:sp>
        <p:nvSpPr>
          <p:cNvPr id="8" name="TextBox 7"/>
          <p:cNvSpPr txBox="1"/>
          <p:nvPr/>
        </p:nvSpPr>
        <p:spPr>
          <a:xfrm>
            <a:off x="10972800" y="6419088"/>
            <a:ext cx="548640" cy="274320"/>
          </a:xfrm>
          <a:prstGeom prst="rect">
            <a:avLst/>
          </a:prstGeom>
          <a:noFill/>
        </p:spPr>
        <p:txBody>
          <a:bodyPr wrap="none" lIns="13716" rIns="13716" tIns="13716" bIns="13716">
            <a:spAutoFit/>
          </a:bodyPr>
          <a:lstStyle/>
          <a:p>
            <a:pPr algn="r">
              <a:lnSpc>
                <a:spcPct val="116000"/>
              </a:lnSpc>
              <a:spcBef>
                <a:spcPts val="0"/>
              </a:spcBef>
              <a:spcAft>
                <a:spcPts val="400"/>
              </a:spcAft>
            </a:pPr>
            <a:r>
              <a:rPr sz="1200" b="1" lang="ja-JP">
                <a:solidFill>
                  <a:srgbClr val="007F78"/>
                </a:solidFill>
                <a:latin typeface="Noto Sans CJK JP"/>
                <a:ea typeface="Noto Sans CJK JP"/>
              </a:rPr>
              <a:t>21</a:t>
            </a:r>
          </a:p>
        </p:txBody>
      </p:sp>
      <p:sp>
        <p:nvSpPr>
          <p:cNvPr id="9" name="Rectangle 8"/>
          <p:cNvSpPr/>
          <p:nvPr/>
        </p:nvSpPr>
        <p:spPr>
          <a:xfrm>
            <a:off x="868680" y="2386584"/>
            <a:ext cx="10469880" cy="310896"/>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423160"/>
            <a:ext cx="338328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FFFFFF"/>
                </a:solidFill>
                <a:latin typeface="Noto Sans CJK JP"/>
                <a:ea typeface="Noto Sans CJK JP"/>
              </a:rPr>
              <a:t>元コードの処理</a:t>
            </a:r>
          </a:p>
        </p:txBody>
      </p:sp>
      <p:sp>
        <p:nvSpPr>
          <p:cNvPr id="11" name="TextBox 10"/>
          <p:cNvSpPr txBox="1"/>
          <p:nvPr/>
        </p:nvSpPr>
        <p:spPr>
          <a:xfrm>
            <a:off x="4599432" y="2423160"/>
            <a:ext cx="4690872"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FFFFFF"/>
                </a:solidFill>
                <a:latin typeface="Noto Sans CJK JP"/>
                <a:ea typeface="Noto Sans CJK JP"/>
              </a:rPr>
              <a:t>measurement.S の対応先</a:t>
            </a:r>
          </a:p>
        </p:txBody>
      </p:sp>
      <p:sp>
        <p:nvSpPr>
          <p:cNvPr id="12" name="TextBox 11"/>
          <p:cNvSpPr txBox="1"/>
          <p:nvPr/>
        </p:nvSpPr>
        <p:spPr>
          <a:xfrm>
            <a:off x="9738360" y="2423160"/>
            <a:ext cx="137160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FFFFFF"/>
                </a:solidFill>
                <a:latin typeface="Noto Sans CJK JP"/>
                <a:ea typeface="Noto Sans CJK JP"/>
              </a:rPr>
              <a:t>行</a:t>
            </a:r>
          </a:p>
        </p:txBody>
      </p:sp>
      <p:sp>
        <p:nvSpPr>
          <p:cNvPr id="13" name="Rectangle 12"/>
          <p:cNvSpPr/>
          <p:nvPr/>
        </p:nvSpPr>
        <p:spPr>
          <a:xfrm>
            <a:off x="868680" y="2720339"/>
            <a:ext cx="1046988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2756915"/>
            <a:ext cx="338328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execute_aes_std</a:t>
            </a:r>
          </a:p>
        </p:txBody>
      </p:sp>
      <p:sp>
        <p:nvSpPr>
          <p:cNvPr id="15" name="TextBox 14"/>
          <p:cNvSpPr txBox="1"/>
          <p:nvPr/>
        </p:nvSpPr>
        <p:spPr>
          <a:xfrm>
            <a:off x="4599432" y="2756915"/>
            <a:ext cx="4690872"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execute_aes_std_asm</a:t>
            </a:r>
          </a:p>
        </p:txBody>
      </p:sp>
      <p:sp>
        <p:nvSpPr>
          <p:cNvPr id="16" name="TextBox 15"/>
          <p:cNvSpPr txBox="1"/>
          <p:nvPr/>
        </p:nvSpPr>
        <p:spPr>
          <a:xfrm>
            <a:off x="9738360" y="2756915"/>
            <a:ext cx="137160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285–292</a:t>
            </a:r>
          </a:p>
        </p:txBody>
      </p:sp>
      <p:sp>
        <p:nvSpPr>
          <p:cNvPr id="17" name="Rectangle 16"/>
          <p:cNvSpPr/>
          <p:nvPr/>
        </p:nvSpPr>
        <p:spPr>
          <a:xfrm>
            <a:off x="868680" y="3054096"/>
            <a:ext cx="10469880" cy="310896"/>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3090672"/>
            <a:ext cx="338328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AddRoundKey_Std</a:t>
            </a:r>
          </a:p>
        </p:txBody>
      </p:sp>
      <p:sp>
        <p:nvSpPr>
          <p:cNvPr id="19" name="TextBox 18"/>
          <p:cNvSpPr txBox="1"/>
          <p:nvPr/>
        </p:nvSpPr>
        <p:spPr>
          <a:xfrm>
            <a:off x="4599432" y="3090672"/>
            <a:ext cx="4690872"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add_round_key_asm</a:t>
            </a:r>
          </a:p>
        </p:txBody>
      </p:sp>
      <p:sp>
        <p:nvSpPr>
          <p:cNvPr id="20" name="TextBox 19"/>
          <p:cNvSpPr txBox="1"/>
          <p:nvPr/>
        </p:nvSpPr>
        <p:spPr>
          <a:xfrm>
            <a:off x="9738360" y="3090672"/>
            <a:ext cx="137160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297–315</a:t>
            </a:r>
          </a:p>
        </p:txBody>
      </p:sp>
      <p:sp>
        <p:nvSpPr>
          <p:cNvPr id="21" name="Rectangle 20"/>
          <p:cNvSpPr/>
          <p:nvPr/>
        </p:nvSpPr>
        <p:spPr>
          <a:xfrm>
            <a:off x="868680" y="3387852"/>
            <a:ext cx="1046988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3424428"/>
            <a:ext cx="338328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SubBytes_Std</a:t>
            </a:r>
          </a:p>
        </p:txBody>
      </p:sp>
      <p:sp>
        <p:nvSpPr>
          <p:cNvPr id="23" name="TextBox 22"/>
          <p:cNvSpPr txBox="1"/>
          <p:nvPr/>
        </p:nvSpPr>
        <p:spPr>
          <a:xfrm>
            <a:off x="4599432" y="3424428"/>
            <a:ext cx="4690872"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sub_bytes_asm</a:t>
            </a:r>
          </a:p>
        </p:txBody>
      </p:sp>
      <p:sp>
        <p:nvSpPr>
          <p:cNvPr id="24" name="TextBox 23"/>
          <p:cNvSpPr txBox="1"/>
          <p:nvPr/>
        </p:nvSpPr>
        <p:spPr>
          <a:xfrm>
            <a:off x="9738360" y="3424428"/>
            <a:ext cx="137160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319–332</a:t>
            </a:r>
          </a:p>
        </p:txBody>
      </p:sp>
      <p:sp>
        <p:nvSpPr>
          <p:cNvPr id="25" name="Rectangle 24"/>
          <p:cNvSpPr/>
          <p:nvPr/>
        </p:nvSpPr>
        <p:spPr>
          <a:xfrm>
            <a:off x="868680" y="3721608"/>
            <a:ext cx="10469880" cy="310896"/>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3758184"/>
            <a:ext cx="338328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ShiftRows_Std</a:t>
            </a:r>
          </a:p>
        </p:txBody>
      </p:sp>
      <p:sp>
        <p:nvSpPr>
          <p:cNvPr id="27" name="TextBox 26"/>
          <p:cNvSpPr txBox="1"/>
          <p:nvPr/>
        </p:nvSpPr>
        <p:spPr>
          <a:xfrm>
            <a:off x="4599432" y="3758184"/>
            <a:ext cx="4690872"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shift_rows_asm</a:t>
            </a:r>
          </a:p>
        </p:txBody>
      </p:sp>
      <p:sp>
        <p:nvSpPr>
          <p:cNvPr id="28" name="TextBox 27"/>
          <p:cNvSpPr txBox="1"/>
          <p:nvPr/>
        </p:nvSpPr>
        <p:spPr>
          <a:xfrm>
            <a:off x="9738360" y="3758184"/>
            <a:ext cx="137160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336–361</a:t>
            </a:r>
          </a:p>
        </p:txBody>
      </p:sp>
      <p:sp>
        <p:nvSpPr>
          <p:cNvPr id="29" name="Rectangle 28"/>
          <p:cNvSpPr/>
          <p:nvPr/>
        </p:nvSpPr>
        <p:spPr>
          <a:xfrm>
            <a:off x="868680" y="4055363"/>
            <a:ext cx="1046988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 y="4091939"/>
            <a:ext cx="338328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MixColumns_Std</a:t>
            </a:r>
          </a:p>
        </p:txBody>
      </p:sp>
      <p:sp>
        <p:nvSpPr>
          <p:cNvPr id="31" name="TextBox 30"/>
          <p:cNvSpPr txBox="1"/>
          <p:nvPr/>
        </p:nvSpPr>
        <p:spPr>
          <a:xfrm>
            <a:off x="4599432" y="4091939"/>
            <a:ext cx="4690872"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mix_columns_asm / XTIME</a:t>
            </a:r>
          </a:p>
        </p:txBody>
      </p:sp>
      <p:sp>
        <p:nvSpPr>
          <p:cNvPr id="32" name="TextBox 31"/>
          <p:cNvSpPr txBox="1"/>
          <p:nvPr/>
        </p:nvSpPr>
        <p:spPr>
          <a:xfrm>
            <a:off x="9738360" y="4091939"/>
            <a:ext cx="137160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364–413</a:t>
            </a:r>
          </a:p>
        </p:txBody>
      </p:sp>
      <p:sp>
        <p:nvSpPr>
          <p:cNvPr id="33" name="Rectangle 32"/>
          <p:cNvSpPr/>
          <p:nvPr/>
        </p:nvSpPr>
        <p:spPr>
          <a:xfrm>
            <a:off x="868680" y="4389120"/>
            <a:ext cx="10469880" cy="310896"/>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4425696"/>
            <a:ext cx="338328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xorshift32</a:t>
            </a:r>
          </a:p>
        </p:txBody>
      </p:sp>
      <p:sp>
        <p:nvSpPr>
          <p:cNvPr id="35" name="TextBox 34"/>
          <p:cNvSpPr txBox="1"/>
          <p:nvPr/>
        </p:nvSpPr>
        <p:spPr>
          <a:xfrm>
            <a:off x="4599432" y="4425696"/>
            <a:ext cx="4690872"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xorshift32_asm</a:t>
            </a:r>
          </a:p>
        </p:txBody>
      </p:sp>
      <p:sp>
        <p:nvSpPr>
          <p:cNvPr id="36" name="TextBox 35"/>
          <p:cNvSpPr txBox="1"/>
          <p:nvPr/>
        </p:nvSpPr>
        <p:spPr>
          <a:xfrm>
            <a:off x="9738360" y="4425696"/>
            <a:ext cx="137160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230–281</a:t>
            </a:r>
          </a:p>
        </p:txBody>
      </p:sp>
      <p:sp>
        <p:nvSpPr>
          <p:cNvPr id="37" name="Rectangle 36"/>
          <p:cNvSpPr/>
          <p:nvPr/>
        </p:nvSpPr>
        <p:spPr>
          <a:xfrm>
            <a:off x="868680" y="4722875"/>
            <a:ext cx="1046988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7552" y="4759451"/>
            <a:ext cx="338328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setup / loop</a:t>
            </a:r>
          </a:p>
        </p:txBody>
      </p:sp>
      <p:sp>
        <p:nvSpPr>
          <p:cNvPr id="39" name="TextBox 38"/>
          <p:cNvSpPr txBox="1"/>
          <p:nvPr/>
        </p:nvSpPr>
        <p:spPr>
          <a:xfrm>
            <a:off x="4599432" y="4759451"/>
            <a:ext cx="4690872"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measurement_setup / loop</a:t>
            </a:r>
          </a:p>
        </p:txBody>
      </p:sp>
      <p:sp>
        <p:nvSpPr>
          <p:cNvPr id="40" name="TextBox 39"/>
          <p:cNvSpPr txBox="1"/>
          <p:nvPr/>
        </p:nvSpPr>
        <p:spPr>
          <a:xfrm>
            <a:off x="9738360" y="4759451"/>
            <a:ext cx="1371600" cy="228600"/>
          </a:xfrm>
          <a:prstGeom prst="rect">
            <a:avLst/>
          </a:prstGeom>
          <a:noFill/>
        </p:spPr>
        <p:txBody>
          <a:bodyPr wrap="none" lIns="13716" rIns="13716" tIns="13716" bIns="13716">
            <a:spAutoFit/>
          </a:bodyPr>
          <a:lstStyle/>
          <a:p>
            <a:pPr>
              <a:lnSpc>
                <a:spcPct val="116000"/>
              </a:lnSpc>
              <a:spcBef>
                <a:spcPts val="0"/>
              </a:spcBef>
              <a:spcAft>
                <a:spcPts val="400"/>
              </a:spcAft>
            </a:pPr>
            <a:r>
              <a:rPr sz="1400" b="0" lang="ja-JP">
                <a:solidFill>
                  <a:srgbClr val="183244"/>
                </a:solidFill>
                <a:latin typeface="DejaVu Sans Mono"/>
                <a:ea typeface="Noto Sans CJK JP"/>
              </a:rPr>
              <a:t>40–212</a:t>
            </a:r>
          </a:p>
        </p:txBody>
      </p:sp>
      <p:sp>
        <p:nvSpPr>
          <p:cNvPr id="41" name="TextBox 40"/>
          <p:cNvSpPr txBox="1"/>
          <p:nvPr/>
        </p:nvSpPr>
        <p:spPr>
          <a:xfrm>
            <a:off x="914400" y="5340096"/>
            <a:ext cx="10424160" cy="685800"/>
          </a:xfrm>
          <a:prstGeom prst="rect">
            <a:avLst/>
          </a:prstGeom>
          <a:noFill/>
        </p:spPr>
        <p:txBody>
          <a:bodyPr wrap="none" lIns="13716" rIns="13716" tIns="13716" bIns="13716">
            <a:spAutoFit/>
          </a:bodyPr>
          <a:lstStyle/>
          <a:p>
            <a:pPr>
              <a:lnSpc>
                <a:spcPct val="116000"/>
              </a:lnSpc>
              <a:spcBef>
                <a:spcPts val="0"/>
              </a:spcBef>
              <a:spcAft>
                <a:spcPts val="400"/>
              </a:spcAft>
            </a:pPr>
            <a:r>
              <a:rPr sz="1500" b="0" lang="ja-JP">
                <a:solidFill>
                  <a:srgbClr val="61727D"/>
                </a:solidFill>
                <a:latin typeface="Noto Sans CJK JP"/>
                <a:ea typeface="Noto Sans CJK JP"/>
              </a:rPr>
              <a:t>資料：添付原本、measurement.S、接続用 .ino、tests/check.py、検証結果 JSON</a:t>
            </a:r>
          </a:p>
          <a:p>
            <a:pPr>
              <a:lnSpc>
                <a:spcPct val="116000"/>
              </a:lnSpc>
              <a:spcBef>
                <a:spcPts val="0"/>
              </a:spcBef>
              <a:spcAft>
                <a:spcPts val="400"/>
              </a:spcAft>
            </a:pPr>
            <a:r>
              <a:rPr sz="1500" b="0" lang="ja-JP">
                <a:solidFill>
                  <a:srgbClr val="61727D"/>
                </a:solidFill>
                <a:latin typeface="Noto Sans CJK JP"/>
                <a:ea typeface="Noto Sans CJK JP"/>
              </a:rPr>
              <a:t>命令の定義：Microchip「AVR Instruction Set Manual」／GNU as「AVR Dependent Features」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Arduino Uno の AES をアセンブリで読む</dc:title>
  <dc:subject>初学者向け：コードの変更点、AVR命令の読み方、機能一致の検証</dc:subject>
  <dc:creator>Codex</dc:creator>
  <cp:keywords>Arduino Uno, AVR, AES, アセンブリ, 初学者</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